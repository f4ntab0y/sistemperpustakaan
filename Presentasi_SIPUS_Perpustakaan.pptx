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150"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pangestu2017@gmail.com" userId="21a3893a8025fc01" providerId="LiveId" clId="{C034F23C-F79E-4155-9568-2A0E3A3936D4}"/>
    <pc:docChg chg="undo custSel addSld delSld modSld">
      <pc:chgData name="aryapangestu2017@gmail.com" userId="21a3893a8025fc01" providerId="LiveId" clId="{C034F23C-F79E-4155-9568-2A0E3A3936D4}" dt="2026-10-16T23:08:26.584" v="93" actId="2085"/>
      <pc:docMkLst>
        <pc:docMk/>
      </pc:docMkLst>
      <pc:sldChg chg="modSp mod">
        <pc:chgData name="aryapangestu2017@gmail.com" userId="21a3893a8025fc01" providerId="LiveId" clId="{C034F23C-F79E-4155-9568-2A0E3A3936D4}" dt="2026-10-16T23:08:26.584" v="93" actId="2085"/>
        <pc:sldMkLst>
          <pc:docMk/>
          <pc:sldMk cId="0" sldId="256"/>
        </pc:sldMkLst>
        <pc:spChg chg="mod">
          <ac:chgData name="aryapangestu2017@gmail.com" userId="21a3893a8025fc01" providerId="LiveId" clId="{C034F23C-F79E-4155-9568-2A0E3A3936D4}" dt="2026-10-16T22:55:03.144" v="1" actId="207"/>
          <ac:spMkLst>
            <pc:docMk/>
            <pc:sldMk cId="0" sldId="256"/>
            <ac:spMk id="2" creationId="{00000000-0000-0000-0000-000000000000}"/>
          </ac:spMkLst>
        </pc:spChg>
        <pc:spChg chg="mod">
          <ac:chgData name="aryapangestu2017@gmail.com" userId="21a3893a8025fc01" providerId="LiveId" clId="{C034F23C-F79E-4155-9568-2A0E3A3936D4}" dt="2026-10-16T23:04:24.472" v="55" actId="207"/>
          <ac:spMkLst>
            <pc:docMk/>
            <pc:sldMk cId="0" sldId="256"/>
            <ac:spMk id="4" creationId="{00000000-0000-0000-0000-000000000000}"/>
          </ac:spMkLst>
        </pc:spChg>
        <pc:spChg chg="mod">
          <ac:chgData name="aryapangestu2017@gmail.com" userId="21a3893a8025fc01" providerId="LiveId" clId="{C034F23C-F79E-4155-9568-2A0E3A3936D4}" dt="2026-10-16T23:08:26.584" v="93" actId="2085"/>
          <ac:spMkLst>
            <pc:docMk/>
            <pc:sldMk cId="0" sldId="256"/>
            <ac:spMk id="9" creationId="{00000000-0000-0000-0000-000000000000}"/>
          </ac:spMkLst>
        </pc:spChg>
      </pc:sldChg>
      <pc:sldChg chg="modSp mod">
        <pc:chgData name="aryapangestu2017@gmail.com" userId="21a3893a8025fc01" providerId="LiveId" clId="{C034F23C-F79E-4155-9568-2A0E3A3936D4}" dt="2026-10-16T22:57:08.495" v="16" actId="2085"/>
        <pc:sldMkLst>
          <pc:docMk/>
          <pc:sldMk cId="0" sldId="257"/>
        </pc:sldMkLst>
        <pc:spChg chg="mod">
          <ac:chgData name="aryapangestu2017@gmail.com" userId="21a3893a8025fc01" providerId="LiveId" clId="{C034F23C-F79E-4155-9568-2A0E3A3936D4}" dt="2026-10-16T22:57:08.495" v="16" actId="2085"/>
          <ac:spMkLst>
            <pc:docMk/>
            <pc:sldMk cId="0" sldId="257"/>
            <ac:spMk id="2" creationId="{00000000-0000-0000-0000-000000000000}"/>
          </ac:spMkLst>
        </pc:spChg>
      </pc:sldChg>
      <pc:sldChg chg="addSp modSp mod">
        <pc:chgData name="aryapangestu2017@gmail.com" userId="21a3893a8025fc01" providerId="LiveId" clId="{C034F23C-F79E-4155-9568-2A0E3A3936D4}" dt="2026-10-16T23:00:49.497" v="36" actId="1076"/>
        <pc:sldMkLst>
          <pc:docMk/>
          <pc:sldMk cId="0" sldId="258"/>
        </pc:sldMkLst>
        <pc:spChg chg="mod">
          <ac:chgData name="aryapangestu2017@gmail.com" userId="21a3893a8025fc01" providerId="LiveId" clId="{C034F23C-F79E-4155-9568-2A0E3A3936D4}" dt="2026-10-16T22:57:26.670" v="17" actId="2085"/>
          <ac:spMkLst>
            <pc:docMk/>
            <pc:sldMk cId="0" sldId="258"/>
            <ac:spMk id="2" creationId="{00000000-0000-0000-0000-000000000000}"/>
          </ac:spMkLst>
        </pc:spChg>
        <pc:spChg chg="mod">
          <ac:chgData name="aryapangestu2017@gmail.com" userId="21a3893a8025fc01" providerId="LiveId" clId="{C034F23C-F79E-4155-9568-2A0E3A3936D4}" dt="2026-10-16T22:55:25.876" v="4" actId="207"/>
          <ac:spMkLst>
            <pc:docMk/>
            <pc:sldMk cId="0" sldId="258"/>
            <ac:spMk id="8" creationId="{00000000-0000-0000-0000-000000000000}"/>
          </ac:spMkLst>
        </pc:spChg>
        <pc:spChg chg="mod">
          <ac:chgData name="aryapangestu2017@gmail.com" userId="21a3893a8025fc01" providerId="LiveId" clId="{C034F23C-F79E-4155-9568-2A0E3A3936D4}" dt="2026-10-16T23:00:12.208" v="30" actId="14100"/>
          <ac:spMkLst>
            <pc:docMk/>
            <pc:sldMk cId="0" sldId="258"/>
            <ac:spMk id="12" creationId="{00000000-0000-0000-0000-000000000000}"/>
          </ac:spMkLst>
        </pc:spChg>
        <pc:spChg chg="mod">
          <ac:chgData name="aryapangestu2017@gmail.com" userId="21a3893a8025fc01" providerId="LiveId" clId="{C034F23C-F79E-4155-9568-2A0E3A3936D4}" dt="2026-10-16T23:00:12.208" v="30" actId="14100"/>
          <ac:spMkLst>
            <pc:docMk/>
            <pc:sldMk cId="0" sldId="258"/>
            <ac:spMk id="17" creationId="{00000000-0000-0000-0000-000000000000}"/>
          </ac:spMkLst>
        </pc:spChg>
        <pc:spChg chg="mod">
          <ac:chgData name="aryapangestu2017@gmail.com" userId="21a3893a8025fc01" providerId="LiveId" clId="{C034F23C-F79E-4155-9568-2A0E3A3936D4}" dt="2026-10-16T23:00:12.208" v="30" actId="14100"/>
          <ac:spMkLst>
            <pc:docMk/>
            <pc:sldMk cId="0" sldId="258"/>
            <ac:spMk id="22" creationId="{00000000-0000-0000-0000-000000000000}"/>
          </ac:spMkLst>
        </pc:spChg>
        <pc:spChg chg="mod">
          <ac:chgData name="aryapangestu2017@gmail.com" userId="21a3893a8025fc01" providerId="LiveId" clId="{C034F23C-F79E-4155-9568-2A0E3A3936D4}" dt="2026-10-16T23:00:34.262" v="34" actId="14100"/>
          <ac:spMkLst>
            <pc:docMk/>
            <pc:sldMk cId="0" sldId="258"/>
            <ac:spMk id="27" creationId="{00000000-0000-0000-0000-000000000000}"/>
          </ac:spMkLst>
        </pc:spChg>
        <pc:spChg chg="mod">
          <ac:chgData name="aryapangestu2017@gmail.com" userId="21a3893a8025fc01" providerId="LiveId" clId="{C034F23C-F79E-4155-9568-2A0E3A3936D4}" dt="2026-10-16T23:00:39.329" v="35" actId="14100"/>
          <ac:spMkLst>
            <pc:docMk/>
            <pc:sldMk cId="0" sldId="258"/>
            <ac:spMk id="28" creationId="{00000000-0000-0000-0000-000000000000}"/>
          </ac:spMkLst>
        </pc:spChg>
        <pc:picChg chg="add mod">
          <ac:chgData name="aryapangestu2017@gmail.com" userId="21a3893a8025fc01" providerId="LiveId" clId="{C034F23C-F79E-4155-9568-2A0E3A3936D4}" dt="2026-10-16T23:00:49.497" v="36" actId="1076"/>
          <ac:picMkLst>
            <pc:docMk/>
            <pc:sldMk cId="0" sldId="258"/>
            <ac:picMk id="1026" creationId="{C84383B7-C55D-4352-A732-A36C679FA398}"/>
          </ac:picMkLst>
        </pc:picChg>
      </pc:sldChg>
      <pc:sldChg chg="modSp mod">
        <pc:chgData name="aryapangestu2017@gmail.com" userId="21a3893a8025fc01" providerId="LiveId" clId="{C034F23C-F79E-4155-9568-2A0E3A3936D4}" dt="2026-10-16T22:57:31.991" v="18" actId="2085"/>
        <pc:sldMkLst>
          <pc:docMk/>
          <pc:sldMk cId="0" sldId="259"/>
        </pc:sldMkLst>
        <pc:spChg chg="mod">
          <ac:chgData name="aryapangestu2017@gmail.com" userId="21a3893a8025fc01" providerId="LiveId" clId="{C034F23C-F79E-4155-9568-2A0E3A3936D4}" dt="2026-10-16T22:57:31.991" v="18" actId="2085"/>
          <ac:spMkLst>
            <pc:docMk/>
            <pc:sldMk cId="0" sldId="259"/>
            <ac:spMk id="2" creationId="{00000000-0000-0000-0000-000000000000}"/>
          </ac:spMkLst>
        </pc:spChg>
        <pc:spChg chg="mod">
          <ac:chgData name="aryapangestu2017@gmail.com" userId="21a3893a8025fc01" providerId="LiveId" clId="{C034F23C-F79E-4155-9568-2A0E3A3936D4}" dt="2026-10-16T22:55:39.536" v="5" actId="207"/>
          <ac:spMkLst>
            <pc:docMk/>
            <pc:sldMk cId="0" sldId="259"/>
            <ac:spMk id="9" creationId="{00000000-0000-0000-0000-000000000000}"/>
          </ac:spMkLst>
        </pc:spChg>
        <pc:spChg chg="mod">
          <ac:chgData name="aryapangestu2017@gmail.com" userId="21a3893a8025fc01" providerId="LiveId" clId="{C034F23C-F79E-4155-9568-2A0E3A3936D4}" dt="2026-10-16T22:55:39.536" v="5" actId="207"/>
          <ac:spMkLst>
            <pc:docMk/>
            <pc:sldMk cId="0" sldId="259"/>
            <ac:spMk id="14" creationId="{00000000-0000-0000-0000-000000000000}"/>
          </ac:spMkLst>
        </pc:spChg>
        <pc:spChg chg="mod">
          <ac:chgData name="aryapangestu2017@gmail.com" userId="21a3893a8025fc01" providerId="LiveId" clId="{C034F23C-F79E-4155-9568-2A0E3A3936D4}" dt="2026-10-16T22:55:39.536" v="5" actId="207"/>
          <ac:spMkLst>
            <pc:docMk/>
            <pc:sldMk cId="0" sldId="259"/>
            <ac:spMk id="19" creationId="{00000000-0000-0000-0000-000000000000}"/>
          </ac:spMkLst>
        </pc:spChg>
      </pc:sldChg>
      <pc:sldChg chg="modSp mod">
        <pc:chgData name="aryapangestu2017@gmail.com" userId="21a3893a8025fc01" providerId="LiveId" clId="{C034F23C-F79E-4155-9568-2A0E3A3936D4}" dt="2026-10-16T22:57:35.587" v="19" actId="2085"/>
        <pc:sldMkLst>
          <pc:docMk/>
          <pc:sldMk cId="0" sldId="260"/>
        </pc:sldMkLst>
        <pc:spChg chg="mod">
          <ac:chgData name="aryapangestu2017@gmail.com" userId="21a3893a8025fc01" providerId="LiveId" clId="{C034F23C-F79E-4155-9568-2A0E3A3936D4}" dt="2026-10-16T22:57:35.587" v="19" actId="2085"/>
          <ac:spMkLst>
            <pc:docMk/>
            <pc:sldMk cId="0" sldId="260"/>
            <ac:spMk id="2" creationId="{00000000-0000-0000-0000-000000000000}"/>
          </ac:spMkLst>
        </pc:spChg>
      </pc:sldChg>
      <pc:sldChg chg="modSp mod">
        <pc:chgData name="aryapangestu2017@gmail.com" userId="21a3893a8025fc01" providerId="LiveId" clId="{C034F23C-F79E-4155-9568-2A0E3A3936D4}" dt="2026-10-16T22:57:41.031" v="20" actId="2085"/>
        <pc:sldMkLst>
          <pc:docMk/>
          <pc:sldMk cId="0" sldId="261"/>
        </pc:sldMkLst>
        <pc:spChg chg="mod">
          <ac:chgData name="aryapangestu2017@gmail.com" userId="21a3893a8025fc01" providerId="LiveId" clId="{C034F23C-F79E-4155-9568-2A0E3A3936D4}" dt="2026-10-16T22:57:41.031" v="20" actId="2085"/>
          <ac:spMkLst>
            <pc:docMk/>
            <pc:sldMk cId="0" sldId="261"/>
            <ac:spMk id="2" creationId="{00000000-0000-0000-0000-000000000000}"/>
          </ac:spMkLst>
        </pc:spChg>
      </pc:sldChg>
      <pc:sldChg chg="modSp mod">
        <pc:chgData name="aryapangestu2017@gmail.com" userId="21a3893a8025fc01" providerId="LiveId" clId="{C034F23C-F79E-4155-9568-2A0E3A3936D4}" dt="2026-10-16T22:57:46.874" v="21" actId="2085"/>
        <pc:sldMkLst>
          <pc:docMk/>
          <pc:sldMk cId="0" sldId="262"/>
        </pc:sldMkLst>
        <pc:spChg chg="mod">
          <ac:chgData name="aryapangestu2017@gmail.com" userId="21a3893a8025fc01" providerId="LiveId" clId="{C034F23C-F79E-4155-9568-2A0E3A3936D4}" dt="2026-10-16T22:57:46.874" v="21" actId="2085"/>
          <ac:spMkLst>
            <pc:docMk/>
            <pc:sldMk cId="0" sldId="262"/>
            <ac:spMk id="2" creationId="{00000000-0000-0000-0000-000000000000}"/>
          </ac:spMkLst>
        </pc:spChg>
      </pc:sldChg>
      <pc:sldChg chg="modSp mod">
        <pc:chgData name="aryapangestu2017@gmail.com" userId="21a3893a8025fc01" providerId="LiveId" clId="{C034F23C-F79E-4155-9568-2A0E3A3936D4}" dt="2026-10-16T22:56:11.268" v="10" actId="207"/>
        <pc:sldMkLst>
          <pc:docMk/>
          <pc:sldMk cId="0" sldId="263"/>
        </pc:sldMkLst>
        <pc:spChg chg="mod">
          <ac:chgData name="aryapangestu2017@gmail.com" userId="21a3893a8025fc01" providerId="LiveId" clId="{C034F23C-F79E-4155-9568-2A0E3A3936D4}" dt="2026-10-16T22:56:11.268" v="10" actId="207"/>
          <ac:spMkLst>
            <pc:docMk/>
            <pc:sldMk cId="0" sldId="263"/>
            <ac:spMk id="2" creationId="{00000000-0000-0000-0000-000000000000}"/>
          </ac:spMkLst>
        </pc:spChg>
      </pc:sldChg>
      <pc:sldChg chg="modSp mod">
        <pc:chgData name="aryapangestu2017@gmail.com" userId="21a3893a8025fc01" providerId="LiveId" clId="{C034F23C-F79E-4155-9568-2A0E3A3936D4}" dt="2026-10-16T22:56:17.191" v="11" actId="207"/>
        <pc:sldMkLst>
          <pc:docMk/>
          <pc:sldMk cId="0" sldId="264"/>
        </pc:sldMkLst>
        <pc:spChg chg="mod">
          <ac:chgData name="aryapangestu2017@gmail.com" userId="21a3893a8025fc01" providerId="LiveId" clId="{C034F23C-F79E-4155-9568-2A0E3A3936D4}" dt="2026-10-16T22:56:17.191" v="11" actId="207"/>
          <ac:spMkLst>
            <pc:docMk/>
            <pc:sldMk cId="0" sldId="264"/>
            <ac:spMk id="2" creationId="{00000000-0000-0000-0000-000000000000}"/>
          </ac:spMkLst>
        </pc:spChg>
      </pc:sldChg>
      <pc:sldChg chg="modSp mod">
        <pc:chgData name="aryapangestu2017@gmail.com" userId="21a3893a8025fc01" providerId="LiveId" clId="{C034F23C-F79E-4155-9568-2A0E3A3936D4}" dt="2026-10-16T22:57:51.118" v="22" actId="2085"/>
        <pc:sldMkLst>
          <pc:docMk/>
          <pc:sldMk cId="0" sldId="265"/>
        </pc:sldMkLst>
        <pc:spChg chg="mod">
          <ac:chgData name="aryapangestu2017@gmail.com" userId="21a3893a8025fc01" providerId="LiveId" clId="{C034F23C-F79E-4155-9568-2A0E3A3936D4}" dt="2026-10-16T22:57:51.118" v="22" actId="2085"/>
          <ac:spMkLst>
            <pc:docMk/>
            <pc:sldMk cId="0" sldId="265"/>
            <ac:spMk id="2" creationId="{00000000-0000-0000-0000-000000000000}"/>
          </ac:spMkLst>
        </pc:spChg>
      </pc:sldChg>
      <pc:sldChg chg="modSp mod">
        <pc:chgData name="aryapangestu2017@gmail.com" userId="21a3893a8025fc01" providerId="LiveId" clId="{C034F23C-F79E-4155-9568-2A0E3A3936D4}" dt="2026-10-16T22:57:54.271" v="23" actId="2085"/>
        <pc:sldMkLst>
          <pc:docMk/>
          <pc:sldMk cId="0" sldId="266"/>
        </pc:sldMkLst>
        <pc:spChg chg="mod">
          <ac:chgData name="aryapangestu2017@gmail.com" userId="21a3893a8025fc01" providerId="LiveId" clId="{C034F23C-F79E-4155-9568-2A0E3A3936D4}" dt="2026-10-16T22:57:54.271" v="23" actId="2085"/>
          <ac:spMkLst>
            <pc:docMk/>
            <pc:sldMk cId="0" sldId="266"/>
            <ac:spMk id="2" creationId="{00000000-0000-0000-0000-000000000000}"/>
          </ac:spMkLst>
        </pc:spChg>
      </pc:sldChg>
      <pc:sldChg chg="addSp delSp modSp del mod">
        <pc:chgData name="aryapangestu2017@gmail.com" userId="21a3893a8025fc01" providerId="LiveId" clId="{C034F23C-F79E-4155-9568-2A0E3A3936D4}" dt="2026-10-16T23:03:16.199" v="54" actId="47"/>
        <pc:sldMkLst>
          <pc:docMk/>
          <pc:sldMk cId="0" sldId="267"/>
        </pc:sldMkLst>
        <pc:spChg chg="del mod ord">
          <ac:chgData name="aryapangestu2017@gmail.com" userId="21a3893a8025fc01" providerId="LiveId" clId="{C034F23C-F79E-4155-9568-2A0E3A3936D4}" dt="2026-10-16T23:02:34.904" v="51" actId="21"/>
          <ac:spMkLst>
            <pc:docMk/>
            <pc:sldMk cId="0" sldId="267"/>
            <ac:spMk id="3" creationId="{00000000-0000-0000-0000-000000000000}"/>
          </ac:spMkLst>
        </pc:spChg>
        <pc:spChg chg="del mod">
          <ac:chgData name="aryapangestu2017@gmail.com" userId="21a3893a8025fc01" providerId="LiveId" clId="{C034F23C-F79E-4155-9568-2A0E3A3936D4}" dt="2026-10-16T23:02:34.904" v="51" actId="21"/>
          <ac:spMkLst>
            <pc:docMk/>
            <pc:sldMk cId="0" sldId="267"/>
            <ac:spMk id="4" creationId="{00000000-0000-0000-0000-000000000000}"/>
          </ac:spMkLst>
        </pc:spChg>
        <pc:spChg chg="del">
          <ac:chgData name="aryapangestu2017@gmail.com" userId="21a3893a8025fc01" providerId="LiveId" clId="{C034F23C-F79E-4155-9568-2A0E3A3936D4}" dt="2026-10-16T23:02:34.904" v="51" actId="21"/>
          <ac:spMkLst>
            <pc:docMk/>
            <pc:sldMk cId="0" sldId="267"/>
            <ac:spMk id="5" creationId="{00000000-0000-0000-0000-000000000000}"/>
          </ac:spMkLst>
        </pc:spChg>
        <pc:spChg chg="del">
          <ac:chgData name="aryapangestu2017@gmail.com" userId="21a3893a8025fc01" providerId="LiveId" clId="{C034F23C-F79E-4155-9568-2A0E3A3936D4}" dt="2026-10-16T23:02:34.904" v="51" actId="21"/>
          <ac:spMkLst>
            <pc:docMk/>
            <pc:sldMk cId="0" sldId="267"/>
            <ac:spMk id="6" creationId="{00000000-0000-0000-0000-000000000000}"/>
          </ac:spMkLst>
        </pc:spChg>
        <pc:spChg chg="del">
          <ac:chgData name="aryapangestu2017@gmail.com" userId="21a3893a8025fc01" providerId="LiveId" clId="{C034F23C-F79E-4155-9568-2A0E3A3936D4}" dt="2026-10-16T23:02:34.904" v="51" actId="21"/>
          <ac:spMkLst>
            <pc:docMk/>
            <pc:sldMk cId="0" sldId="267"/>
            <ac:spMk id="7" creationId="{00000000-0000-0000-0000-000000000000}"/>
          </ac:spMkLst>
        </pc:spChg>
        <pc:spChg chg="add del">
          <ac:chgData name="aryapangestu2017@gmail.com" userId="21a3893a8025fc01" providerId="LiveId" clId="{C034F23C-F79E-4155-9568-2A0E3A3936D4}" dt="2026-10-16T23:02:18.948" v="49" actId="11529"/>
          <ac:spMkLst>
            <pc:docMk/>
            <pc:sldMk cId="0" sldId="267"/>
            <ac:spMk id="8" creationId="{452128D1-2C0B-4F9E-BED5-A495352D42D0}"/>
          </ac:spMkLst>
        </pc:spChg>
      </pc:sldChg>
      <pc:sldChg chg="addSp delSp modSp add mod setBg">
        <pc:chgData name="aryapangestu2017@gmail.com" userId="21a3893a8025fc01" providerId="LiveId" clId="{C034F23C-F79E-4155-9568-2A0E3A3936D4}" dt="2026-10-16T23:08:16.597" v="92" actId="207"/>
        <pc:sldMkLst>
          <pc:docMk/>
          <pc:sldMk cId="3117530646" sldId="268"/>
        </pc:sldMkLst>
        <pc:spChg chg="mod">
          <ac:chgData name="aryapangestu2017@gmail.com" userId="21a3893a8025fc01" providerId="LiveId" clId="{C034F23C-F79E-4155-9568-2A0E3A3936D4}" dt="2026-10-16T23:08:16.597" v="92" actId="207"/>
          <ac:spMkLst>
            <pc:docMk/>
            <pc:sldMk cId="3117530646" sldId="268"/>
            <ac:spMk id="4" creationId="{00000000-0000-0000-0000-000000000000}"/>
          </ac:spMkLst>
        </pc:spChg>
        <pc:spChg chg="del">
          <ac:chgData name="aryapangestu2017@gmail.com" userId="21a3893a8025fc01" providerId="LiveId" clId="{C034F23C-F79E-4155-9568-2A0E3A3936D4}" dt="2026-10-16T23:02:56.109" v="52" actId="478"/>
          <ac:spMkLst>
            <pc:docMk/>
            <pc:sldMk cId="3117530646" sldId="268"/>
            <ac:spMk id="5" creationId="{00000000-0000-0000-0000-000000000000}"/>
          </ac:spMkLst>
        </pc:spChg>
        <pc:spChg chg="del">
          <ac:chgData name="aryapangestu2017@gmail.com" userId="21a3893a8025fc01" providerId="LiveId" clId="{C034F23C-F79E-4155-9568-2A0E3A3936D4}" dt="2026-10-16T23:02:56.109" v="52" actId="478"/>
          <ac:spMkLst>
            <pc:docMk/>
            <pc:sldMk cId="3117530646" sldId="268"/>
            <ac:spMk id="6" creationId="{00000000-0000-0000-0000-000000000000}"/>
          </ac:spMkLst>
        </pc:spChg>
        <pc:spChg chg="del">
          <ac:chgData name="aryapangestu2017@gmail.com" userId="21a3893a8025fc01" providerId="LiveId" clId="{C034F23C-F79E-4155-9568-2A0E3A3936D4}" dt="2026-10-16T23:02:56.109" v="52" actId="478"/>
          <ac:spMkLst>
            <pc:docMk/>
            <pc:sldMk cId="3117530646" sldId="268"/>
            <ac:spMk id="7" creationId="{00000000-0000-0000-0000-000000000000}"/>
          </ac:spMkLst>
        </pc:spChg>
        <pc:spChg chg="del">
          <ac:chgData name="aryapangestu2017@gmail.com" userId="21a3893a8025fc01" providerId="LiveId" clId="{C034F23C-F79E-4155-9568-2A0E3A3936D4}" dt="2026-10-16T23:02:56.109" v="52" actId="478"/>
          <ac:spMkLst>
            <pc:docMk/>
            <pc:sldMk cId="3117530646" sldId="268"/>
            <ac:spMk id="8" creationId="{00000000-0000-0000-0000-000000000000}"/>
          </ac:spMkLst>
        </pc:spChg>
        <pc:spChg chg="del">
          <ac:chgData name="aryapangestu2017@gmail.com" userId="21a3893a8025fc01" providerId="LiveId" clId="{C034F23C-F79E-4155-9568-2A0E3A3936D4}" dt="2026-10-16T23:02:56.109" v="52" actId="478"/>
          <ac:spMkLst>
            <pc:docMk/>
            <pc:sldMk cId="3117530646" sldId="268"/>
            <ac:spMk id="9" creationId="{00000000-0000-0000-0000-000000000000}"/>
          </ac:spMkLst>
        </pc:spChg>
        <pc:spChg chg="del">
          <ac:chgData name="aryapangestu2017@gmail.com" userId="21a3893a8025fc01" providerId="LiveId" clId="{C034F23C-F79E-4155-9568-2A0E3A3936D4}" dt="2026-10-16T23:02:56.109" v="52" actId="478"/>
          <ac:spMkLst>
            <pc:docMk/>
            <pc:sldMk cId="3117530646" sldId="268"/>
            <ac:spMk id="10" creationId="{00000000-0000-0000-0000-000000000000}"/>
          </ac:spMkLst>
        </pc:spChg>
        <pc:spChg chg="add mod">
          <ac:chgData name="aryapangestu2017@gmail.com" userId="21a3893a8025fc01" providerId="LiveId" clId="{C034F23C-F79E-4155-9568-2A0E3A3936D4}" dt="2026-10-16T23:08:11.282" v="91" actId="14100"/>
          <ac:spMkLst>
            <pc:docMk/>
            <pc:sldMk cId="3117530646" sldId="268"/>
            <ac:spMk id="11" creationId="{109D8995-C901-41E0-BA14-0FF21125D6A5}"/>
          </ac:spMkLst>
        </pc:spChg>
        <pc:spChg chg="add mod">
          <ac:chgData name="aryapangestu2017@gmail.com" userId="21a3893a8025fc01" providerId="LiveId" clId="{C034F23C-F79E-4155-9568-2A0E3A3936D4}" dt="2026-10-16T23:07:52.085" v="86" actId="1076"/>
          <ac:spMkLst>
            <pc:docMk/>
            <pc:sldMk cId="3117530646" sldId="268"/>
            <ac:spMk id="12" creationId="{A6A27ABC-72FA-4A21-BCC0-82D8217006CF}"/>
          </ac:spMkLst>
        </pc:spChg>
        <pc:spChg chg="add mod">
          <ac:chgData name="aryapangestu2017@gmail.com" userId="21a3893a8025fc01" providerId="LiveId" clId="{C034F23C-F79E-4155-9568-2A0E3A3936D4}" dt="2026-10-16T23:08:02.087" v="89" actId="1076"/>
          <ac:spMkLst>
            <pc:docMk/>
            <pc:sldMk cId="3117530646" sldId="268"/>
            <ac:spMk id="13" creationId="{D3BF388E-DC34-442D-B19A-F3D34EAED7E7}"/>
          </ac:spMkLst>
        </pc:spChg>
        <pc:spChg chg="add mod">
          <ac:chgData name="aryapangestu2017@gmail.com" userId="21a3893a8025fc01" providerId="LiveId" clId="{C034F23C-F79E-4155-9568-2A0E3A3936D4}" dt="2026-10-16T23:08:04.327" v="90" actId="1076"/>
          <ac:spMkLst>
            <pc:docMk/>
            <pc:sldMk cId="3117530646" sldId="268"/>
            <ac:spMk id="14" creationId="{62C6FE95-52CE-4D62-9704-702D1F5472B5}"/>
          </ac:spMkLst>
        </pc:spChg>
        <pc:spChg chg="add mod">
          <ac:chgData name="aryapangestu2017@gmail.com" userId="21a3893a8025fc01" providerId="LiveId" clId="{C034F23C-F79E-4155-9568-2A0E3A3936D4}" dt="2026-10-16T23:07:56.379" v="87" actId="1076"/>
          <ac:spMkLst>
            <pc:docMk/>
            <pc:sldMk cId="3117530646" sldId="268"/>
            <ac:spMk id="15" creationId="{6418AF73-82DD-4437-A3A9-30DAE76099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7701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48207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1097280" y="2468880"/>
            <a:ext cx="2560320" cy="1920240"/>
          </a:xfrm>
          <a:prstGeom prst="roundRect">
            <a:avLst>
              <a:gd name="adj" fmla="val 23810"/>
            </a:avLst>
          </a:prstGeom>
          <a:solidFill>
            <a:srgbClr val="006747"/>
          </a:solidFill>
          <a:ln/>
        </p:spPr>
        <p:txBody>
          <a:bodyPr/>
          <a:lstStyle/>
          <a:p>
            <a:endParaRPr lang="id-ID" dirty="0"/>
          </a:p>
        </p:txBody>
      </p:sp>
      <p:sp>
        <p:nvSpPr>
          <p:cNvPr id="3" name="Shape 1"/>
          <p:cNvSpPr/>
          <p:nvPr/>
        </p:nvSpPr>
        <p:spPr>
          <a:xfrm>
            <a:off x="10725912" y="2468880"/>
            <a:ext cx="2560320" cy="1920240"/>
          </a:xfrm>
          <a:prstGeom prst="roundRect">
            <a:avLst>
              <a:gd name="adj" fmla="val 23810"/>
            </a:avLst>
          </a:prstGeom>
          <a:solidFill>
            <a:srgbClr val="006747"/>
          </a:solidFill>
          <a:ln/>
        </p:spPr>
      </p:sp>
      <p:sp>
        <p:nvSpPr>
          <p:cNvPr id="4" name="Shape 2"/>
          <p:cNvSpPr/>
          <p:nvPr/>
        </p:nvSpPr>
        <p:spPr>
          <a:xfrm>
            <a:off x="0" y="0"/>
            <a:ext cx="12188952" cy="137160"/>
          </a:xfrm>
          <a:prstGeom prst="rect">
            <a:avLst/>
          </a:prstGeom>
          <a:solidFill>
            <a:srgbClr val="006747"/>
          </a:solidFill>
          <a:ln/>
        </p:spPr>
      </p:sp>
      <p:sp>
        <p:nvSpPr>
          <p:cNvPr id="5" name="Text 3"/>
          <p:cNvSpPr/>
          <p:nvPr/>
        </p:nvSpPr>
        <p:spPr>
          <a:xfrm>
            <a:off x="1371600" y="2011680"/>
            <a:ext cx="9445752" cy="457200"/>
          </a:xfrm>
          <a:prstGeom prst="rect">
            <a:avLst/>
          </a:prstGeom>
          <a:noFill/>
          <a:ln/>
        </p:spPr>
        <p:txBody>
          <a:bodyPr wrap="square" rtlCol="0" anchor="ctr"/>
          <a:lstStyle/>
          <a:p>
            <a:pPr marL="0" indent="0" algn="ctr">
              <a:buNone/>
            </a:pPr>
            <a:r>
              <a:rPr lang="en-US" sz="2200" b="1" kern="0" spc="300" dirty="0">
                <a:solidFill>
                  <a:srgbClr val="1E293B"/>
                </a:solidFill>
              </a:rPr>
              <a:t>PRESENTASI SERTIFIKASI</a:t>
            </a:r>
            <a:endParaRPr lang="en-US" sz="2200" dirty="0"/>
          </a:p>
        </p:txBody>
      </p:sp>
      <p:sp>
        <p:nvSpPr>
          <p:cNvPr id="6" name="Text 4"/>
          <p:cNvSpPr/>
          <p:nvPr/>
        </p:nvSpPr>
        <p:spPr>
          <a:xfrm>
            <a:off x="1371600" y="2514600"/>
            <a:ext cx="9445752" cy="1005840"/>
          </a:xfrm>
          <a:prstGeom prst="rect">
            <a:avLst/>
          </a:prstGeom>
          <a:noFill/>
          <a:ln/>
        </p:spPr>
        <p:txBody>
          <a:bodyPr wrap="square" rtlCol="0" anchor="ctr"/>
          <a:lstStyle/>
          <a:p>
            <a:pPr marL="0" indent="0" algn="ctr">
              <a:buNone/>
            </a:pPr>
            <a:r>
              <a:rPr lang="en-US" sz="4400" b="1" dirty="0">
                <a:solidFill>
                  <a:srgbClr val="006747"/>
                </a:solidFill>
              </a:rPr>
              <a:t>ASISTEN PENGEMBANG WEB</a:t>
            </a:r>
            <a:endParaRPr lang="en-US" sz="4400" dirty="0"/>
          </a:p>
        </p:txBody>
      </p:sp>
      <p:sp>
        <p:nvSpPr>
          <p:cNvPr id="7" name="Text 5"/>
          <p:cNvSpPr/>
          <p:nvPr/>
        </p:nvSpPr>
        <p:spPr>
          <a:xfrm>
            <a:off x="1371600" y="3566160"/>
            <a:ext cx="9445752" cy="457200"/>
          </a:xfrm>
          <a:prstGeom prst="rect">
            <a:avLst/>
          </a:prstGeom>
          <a:noFill/>
          <a:ln/>
        </p:spPr>
        <p:txBody>
          <a:bodyPr wrap="square" rtlCol="0" anchor="ctr"/>
          <a:lstStyle/>
          <a:p>
            <a:pPr marL="0" indent="0" algn="ctr">
              <a:buNone/>
            </a:pPr>
            <a:r>
              <a:rPr lang="en-US" sz="1800" b="1" kern="0" spc="200" dirty="0">
                <a:solidFill>
                  <a:srgbClr val="1E293B"/>
                </a:solidFill>
              </a:rPr>
              <a:t>MUH ARYA PANGESTU</a:t>
            </a:r>
            <a:endParaRPr lang="en-US" sz="1800" dirty="0"/>
          </a:p>
        </p:txBody>
      </p:sp>
      <p:sp>
        <p:nvSpPr>
          <p:cNvPr id="8" name="Text 6"/>
          <p:cNvSpPr/>
          <p:nvPr/>
        </p:nvSpPr>
        <p:spPr>
          <a:xfrm>
            <a:off x="1828800" y="4206240"/>
            <a:ext cx="8531352" cy="731520"/>
          </a:xfrm>
          <a:prstGeom prst="rect">
            <a:avLst/>
          </a:prstGeom>
          <a:noFill/>
          <a:ln/>
        </p:spPr>
        <p:txBody>
          <a:bodyPr wrap="square" rtlCol="0" anchor="ctr"/>
          <a:lstStyle/>
          <a:p>
            <a:pPr marL="0" indent="0" algn="ctr">
              <a:lnSpc>
                <a:spcPts val="1800"/>
              </a:lnSpc>
              <a:buNone/>
            </a:pPr>
            <a:r>
              <a:rPr lang="en-US" sz="1200" dirty="0">
                <a:solidFill>
                  <a:srgbClr val="64748B"/>
                </a:solidFill>
              </a:rPr>
              <a:t>Skema Sertifikasi: Junior Web Developer / Asisten Pengembang Web</a:t>
            </a:r>
            <a:endParaRPr lang="en-US" sz="1200" dirty="0"/>
          </a:p>
          <a:p>
            <a:pPr marL="0" indent="0" algn="ctr">
              <a:lnSpc>
                <a:spcPts val="1800"/>
              </a:lnSpc>
              <a:buNone/>
            </a:pPr>
            <a:r>
              <a:rPr lang="en-US" sz="1200" dirty="0">
                <a:solidFill>
                  <a:srgbClr val="64748B"/>
                </a:solidFill>
              </a:rPr>
              <a:t>Standar Kompetensi Kerja Nasional Indonesia (SKKNI No 282 Tahun 2016)</a:t>
            </a:r>
            <a:endParaRPr lang="en-US" sz="1200" dirty="0"/>
          </a:p>
        </p:txBody>
      </p:sp>
      <p:sp>
        <p:nvSpPr>
          <p:cNvPr id="9" name="Shape 7"/>
          <p:cNvSpPr/>
          <p:nvPr/>
        </p:nvSpPr>
        <p:spPr>
          <a:xfrm>
            <a:off x="3803904" y="5120640"/>
            <a:ext cx="4572000" cy="640080"/>
          </a:xfrm>
          <a:prstGeom prst="roundRect">
            <a:avLst>
              <a:gd name="adj" fmla="val 21429"/>
            </a:avLst>
          </a:prstGeom>
          <a:solidFill>
            <a:srgbClr val="006747"/>
          </a:solidFill>
          <a:ln w="19050">
            <a:noFill/>
            <a:prstDash val="solid"/>
          </a:ln>
        </p:spPr>
      </p:sp>
      <p:sp>
        <p:nvSpPr>
          <p:cNvPr id="10" name="Text 8"/>
          <p:cNvSpPr/>
          <p:nvPr/>
        </p:nvSpPr>
        <p:spPr>
          <a:xfrm>
            <a:off x="3803904" y="5120640"/>
            <a:ext cx="4572000" cy="640080"/>
          </a:xfrm>
          <a:prstGeom prst="rect">
            <a:avLst/>
          </a:prstGeom>
          <a:noFill/>
          <a:ln/>
        </p:spPr>
        <p:txBody>
          <a:bodyPr wrap="square" rtlCol="0" anchor="ctr"/>
          <a:lstStyle/>
          <a:p>
            <a:pPr marL="0" indent="0" algn="ctr">
              <a:buNone/>
            </a:pPr>
            <a:r>
              <a:rPr lang="en-US" sz="1100" b="1" dirty="0">
                <a:solidFill>
                  <a:srgbClr val="FFFFFF"/>
                </a:solidFill>
              </a:rPr>
              <a:t>PROYEK UJI : SIPUS DIGITAL (Sistem Perpustakaan)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no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INFORMASI APLIKASI</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Identitas Proyek &amp; Teknologi yang Digunakan</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2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sp>
        <p:nvSpPr>
          <p:cNvPr id="8" name="Shape 6"/>
          <p:cNvSpPr/>
          <p:nvPr/>
        </p:nvSpPr>
        <p:spPr>
          <a:xfrm>
            <a:off x="1828800" y="1371600"/>
            <a:ext cx="8531352" cy="4754880"/>
          </a:xfrm>
          <a:prstGeom prst="roundRect">
            <a:avLst>
              <a:gd name="adj" fmla="val 2885"/>
            </a:avLst>
          </a:prstGeom>
          <a:solidFill>
            <a:srgbClr val="FFFFFF"/>
          </a:solidFill>
          <a:ln w="12700">
            <a:solidFill>
              <a:srgbClr val="E2E8F0"/>
            </a:solidFill>
            <a:prstDash val="solid"/>
          </a:ln>
        </p:spPr>
      </p:sp>
      <p:sp>
        <p:nvSpPr>
          <p:cNvPr id="9" name="Text 7"/>
          <p:cNvSpPr/>
          <p:nvPr/>
        </p:nvSpPr>
        <p:spPr>
          <a:xfrm>
            <a:off x="2286000" y="1645920"/>
            <a:ext cx="7616952" cy="274320"/>
          </a:xfrm>
          <a:prstGeom prst="rect">
            <a:avLst/>
          </a:prstGeom>
          <a:noFill/>
          <a:ln/>
        </p:spPr>
        <p:txBody>
          <a:bodyPr wrap="square" rtlCol="0" anchor="ctr"/>
          <a:lstStyle/>
          <a:p>
            <a:pPr marL="0" indent="0" algn="ctr">
              <a:buNone/>
            </a:pPr>
            <a:r>
              <a:rPr lang="en-US" sz="1100" b="1" kern="0" spc="200" dirty="0">
                <a:solidFill>
                  <a:srgbClr val="64748B"/>
                </a:solidFill>
              </a:rPr>
              <a:t>NAMA PROYEK</a:t>
            </a:r>
            <a:endParaRPr lang="en-US" sz="1100" dirty="0"/>
          </a:p>
        </p:txBody>
      </p:sp>
      <p:sp>
        <p:nvSpPr>
          <p:cNvPr id="10" name="Text 8"/>
          <p:cNvSpPr/>
          <p:nvPr/>
        </p:nvSpPr>
        <p:spPr>
          <a:xfrm>
            <a:off x="2286000" y="1965960"/>
            <a:ext cx="7616952" cy="594360"/>
          </a:xfrm>
          <a:prstGeom prst="rect">
            <a:avLst/>
          </a:prstGeom>
          <a:noFill/>
          <a:ln/>
        </p:spPr>
        <p:txBody>
          <a:bodyPr wrap="square" rtlCol="0" anchor="ctr"/>
          <a:lstStyle/>
          <a:p>
            <a:pPr marL="0" indent="0" algn="ctr">
              <a:buNone/>
            </a:pPr>
            <a:r>
              <a:rPr lang="en-US" sz="3200" b="1" dirty="0">
                <a:solidFill>
                  <a:srgbClr val="006747"/>
                </a:solidFill>
              </a:rPr>
              <a:t>SIPUS DIGITAL</a:t>
            </a:r>
            <a:endParaRPr lang="en-US" sz="3200" dirty="0"/>
          </a:p>
        </p:txBody>
      </p:sp>
      <p:sp>
        <p:nvSpPr>
          <p:cNvPr id="11" name="Text 9"/>
          <p:cNvSpPr/>
          <p:nvPr/>
        </p:nvSpPr>
        <p:spPr>
          <a:xfrm>
            <a:off x="2286000" y="2560320"/>
            <a:ext cx="7616952" cy="320040"/>
          </a:xfrm>
          <a:prstGeom prst="rect">
            <a:avLst/>
          </a:prstGeom>
          <a:noFill/>
          <a:ln/>
        </p:spPr>
        <p:txBody>
          <a:bodyPr wrap="square" rtlCol="0" anchor="ctr"/>
          <a:lstStyle/>
          <a:p>
            <a:pPr marL="0" indent="0" algn="ctr">
              <a:buNone/>
            </a:pPr>
            <a:r>
              <a:rPr lang="en-US" sz="1300" dirty="0">
                <a:solidFill>
                  <a:srgbClr val="64748B"/>
                </a:solidFill>
              </a:rPr>
              <a:t>Sistem Informasi Layanan Sirkulasi &amp; Presensi Perpustakaan Digital</a:t>
            </a:r>
            <a:endParaRPr lang="en-US" sz="1300" dirty="0"/>
          </a:p>
        </p:txBody>
      </p:sp>
      <p:sp>
        <p:nvSpPr>
          <p:cNvPr id="12" name="Text 10"/>
          <p:cNvSpPr/>
          <p:nvPr/>
        </p:nvSpPr>
        <p:spPr>
          <a:xfrm>
            <a:off x="2743200" y="3017520"/>
            <a:ext cx="6702552" cy="914400"/>
          </a:xfrm>
          <a:prstGeom prst="rect">
            <a:avLst/>
          </a:prstGeom>
          <a:noFill/>
          <a:ln/>
        </p:spPr>
        <p:txBody>
          <a:bodyPr wrap="square" rtlCol="0" anchor="ctr"/>
          <a:lstStyle/>
          <a:p>
            <a:pPr marL="0" indent="0" algn="ctr">
              <a:lnSpc>
                <a:spcPts val="2000"/>
              </a:lnSpc>
              <a:buNone/>
            </a:pPr>
            <a:r>
              <a:rPr lang="en-US" sz="1100" dirty="0">
                <a:solidFill>
                  <a:srgbClr val="64748B"/>
                </a:solidFill>
              </a:rPr>
              <a:t>Tanggal Pembuatan : </a:t>
            </a:r>
            <a:r>
              <a:rPr lang="en-US" sz="1100" b="1" dirty="0">
                <a:solidFill>
                  <a:srgbClr val="1E293B"/>
                </a:solidFill>
              </a:rPr>
              <a:t>Oktober 2026
</a:t>
            </a:r>
            <a:r>
              <a:rPr lang="en-US" sz="1100" dirty="0">
                <a:solidFill>
                  <a:srgbClr val="64748B"/>
                </a:solidFill>
              </a:rPr>
              <a:t>Basis Aplikasi : </a:t>
            </a:r>
            <a:r>
              <a:rPr lang="en-US" sz="1100" b="1" dirty="0">
                <a:solidFill>
                  <a:srgbClr val="062C24"/>
                </a:solidFill>
              </a:rPr>
              <a:t>Web Portal Responsif (HTML5 Semantik &amp; CSS3 Modern)
</a:t>
            </a:r>
            <a:r>
              <a:rPr lang="en-US" sz="1100" dirty="0">
                <a:solidFill>
                  <a:srgbClr val="64748B"/>
                </a:solidFill>
              </a:rPr>
              <a:t>Target Pengguna : </a:t>
            </a:r>
            <a:r>
              <a:rPr lang="en-US" sz="1100" b="1" dirty="0">
                <a:solidFill>
                  <a:srgbClr val="1E293B"/>
                </a:solidFill>
              </a:rPr>
              <a:t>Pemustaka (Peminjam), Petugas Administrasi, &amp; Asesor Penguji</a:t>
            </a:r>
            <a:endParaRPr lang="en-US" sz="1100" dirty="0"/>
          </a:p>
        </p:txBody>
      </p:sp>
      <p:sp>
        <p:nvSpPr>
          <p:cNvPr id="13" name="Text 11"/>
          <p:cNvSpPr/>
          <p:nvPr/>
        </p:nvSpPr>
        <p:spPr>
          <a:xfrm>
            <a:off x="2286000" y="4023360"/>
            <a:ext cx="7616952" cy="320040"/>
          </a:xfrm>
          <a:prstGeom prst="rect">
            <a:avLst/>
          </a:prstGeom>
          <a:noFill/>
          <a:ln/>
        </p:spPr>
        <p:txBody>
          <a:bodyPr wrap="square" rtlCol="0" anchor="ctr"/>
          <a:lstStyle/>
          <a:p>
            <a:pPr marL="0" indent="0" algn="ctr">
              <a:buNone/>
            </a:pPr>
            <a:r>
              <a:rPr lang="en-US" sz="1300" b="1" dirty="0">
                <a:solidFill>
                  <a:srgbClr val="062C24"/>
                </a:solidFill>
              </a:rPr>
              <a:t>Teknologi &amp; Komponen yang Digunakan:</a:t>
            </a:r>
            <a:endParaRPr lang="en-US" sz="1300" dirty="0"/>
          </a:p>
        </p:txBody>
      </p:sp>
      <p:sp>
        <p:nvSpPr>
          <p:cNvPr id="14" name="Shape 12"/>
          <p:cNvSpPr/>
          <p:nvPr/>
        </p:nvSpPr>
        <p:spPr>
          <a:xfrm>
            <a:off x="2194560" y="4434840"/>
            <a:ext cx="1828800" cy="1097280"/>
          </a:xfrm>
          <a:prstGeom prst="roundRect">
            <a:avLst>
              <a:gd name="adj" fmla="val 8333"/>
            </a:avLst>
          </a:prstGeom>
          <a:solidFill>
            <a:srgbClr val="F1F5F9"/>
          </a:solidFill>
          <a:ln w="12700">
            <a:solidFill>
              <a:srgbClr val="E2E8F0"/>
            </a:solidFill>
            <a:prstDash val="solid"/>
          </a:ln>
        </p:spPr>
      </p:sp>
      <p:sp>
        <p:nvSpPr>
          <p:cNvPr id="15" name="Text 13"/>
          <p:cNvSpPr/>
          <p:nvPr/>
        </p:nvSpPr>
        <p:spPr>
          <a:xfrm>
            <a:off x="2194560" y="4572000"/>
            <a:ext cx="1828800" cy="320040"/>
          </a:xfrm>
          <a:prstGeom prst="rect">
            <a:avLst/>
          </a:prstGeom>
          <a:noFill/>
          <a:ln/>
        </p:spPr>
        <p:txBody>
          <a:bodyPr wrap="square" rtlCol="0" anchor="ctr"/>
          <a:lstStyle/>
          <a:p>
            <a:pPr marL="0" indent="0" algn="ctr">
              <a:buNone/>
            </a:pPr>
            <a:r>
              <a:rPr lang="en-US" sz="1100" b="1" dirty="0">
                <a:solidFill>
                  <a:srgbClr val="006747"/>
                </a:solidFill>
              </a:rPr>
              <a:t>HTML5 Semantik</a:t>
            </a:r>
            <a:endParaRPr lang="en-US" sz="1100" dirty="0"/>
          </a:p>
        </p:txBody>
      </p:sp>
      <p:sp>
        <p:nvSpPr>
          <p:cNvPr id="16" name="Text 14"/>
          <p:cNvSpPr/>
          <p:nvPr/>
        </p:nvSpPr>
        <p:spPr>
          <a:xfrm>
            <a:off x="2194560" y="4892040"/>
            <a:ext cx="1828800" cy="274320"/>
          </a:xfrm>
          <a:prstGeom prst="rect">
            <a:avLst/>
          </a:prstGeom>
          <a:noFill/>
          <a:ln/>
        </p:spPr>
        <p:txBody>
          <a:bodyPr wrap="square" rtlCol="0" anchor="ctr"/>
          <a:lstStyle/>
          <a:p>
            <a:pPr marL="0" indent="0" algn="ctr">
              <a:buNone/>
            </a:pPr>
            <a:r>
              <a:rPr lang="en-US" sz="950" dirty="0">
                <a:solidFill>
                  <a:srgbClr val="64748B"/>
                </a:solidFill>
              </a:rPr>
              <a:t>Form &amp; Media</a:t>
            </a:r>
            <a:endParaRPr lang="en-US" sz="950" dirty="0"/>
          </a:p>
        </p:txBody>
      </p:sp>
      <p:sp>
        <p:nvSpPr>
          <p:cNvPr id="17" name="Shape 15"/>
          <p:cNvSpPr/>
          <p:nvPr/>
        </p:nvSpPr>
        <p:spPr>
          <a:xfrm>
            <a:off x="4160520" y="4434840"/>
            <a:ext cx="1828800" cy="1097280"/>
          </a:xfrm>
          <a:prstGeom prst="roundRect">
            <a:avLst>
              <a:gd name="adj" fmla="val 8333"/>
            </a:avLst>
          </a:prstGeom>
          <a:solidFill>
            <a:srgbClr val="F1F5F9"/>
          </a:solidFill>
          <a:ln w="12700">
            <a:solidFill>
              <a:srgbClr val="E2E8F0"/>
            </a:solidFill>
            <a:prstDash val="solid"/>
          </a:ln>
        </p:spPr>
      </p:sp>
      <p:sp>
        <p:nvSpPr>
          <p:cNvPr id="18" name="Text 16"/>
          <p:cNvSpPr/>
          <p:nvPr/>
        </p:nvSpPr>
        <p:spPr>
          <a:xfrm>
            <a:off x="4160520" y="4572000"/>
            <a:ext cx="1828800" cy="320040"/>
          </a:xfrm>
          <a:prstGeom prst="rect">
            <a:avLst/>
          </a:prstGeom>
          <a:noFill/>
          <a:ln/>
        </p:spPr>
        <p:txBody>
          <a:bodyPr wrap="square" rtlCol="0" anchor="ctr"/>
          <a:lstStyle/>
          <a:p>
            <a:pPr marL="0" indent="0" algn="ctr">
              <a:buNone/>
            </a:pPr>
            <a:r>
              <a:rPr lang="en-US" sz="1100" b="1" dirty="0">
                <a:solidFill>
                  <a:srgbClr val="006747"/>
                </a:solidFill>
              </a:rPr>
              <a:t>CSS3 Flex &amp; Grid</a:t>
            </a:r>
            <a:endParaRPr lang="en-US" sz="1100" dirty="0"/>
          </a:p>
        </p:txBody>
      </p:sp>
      <p:sp>
        <p:nvSpPr>
          <p:cNvPr id="19" name="Text 17"/>
          <p:cNvSpPr/>
          <p:nvPr/>
        </p:nvSpPr>
        <p:spPr>
          <a:xfrm>
            <a:off x="4160520" y="4892040"/>
            <a:ext cx="1828800" cy="274320"/>
          </a:xfrm>
          <a:prstGeom prst="rect">
            <a:avLst/>
          </a:prstGeom>
          <a:noFill/>
          <a:ln/>
        </p:spPr>
        <p:txBody>
          <a:bodyPr wrap="square" rtlCol="0" anchor="ctr"/>
          <a:lstStyle/>
          <a:p>
            <a:pPr marL="0" indent="0" algn="ctr">
              <a:buNone/>
            </a:pPr>
            <a:r>
              <a:rPr lang="en-US" sz="950" dirty="0">
                <a:solidFill>
                  <a:srgbClr val="64748B"/>
                </a:solidFill>
              </a:rPr>
              <a:t>Modern UI/UX</a:t>
            </a:r>
            <a:endParaRPr lang="en-US" sz="950" dirty="0"/>
          </a:p>
        </p:txBody>
      </p:sp>
      <p:sp>
        <p:nvSpPr>
          <p:cNvPr id="20" name="Shape 18"/>
          <p:cNvSpPr/>
          <p:nvPr/>
        </p:nvSpPr>
        <p:spPr>
          <a:xfrm>
            <a:off x="6126480" y="4434840"/>
            <a:ext cx="1828800" cy="1097280"/>
          </a:xfrm>
          <a:prstGeom prst="roundRect">
            <a:avLst>
              <a:gd name="adj" fmla="val 8333"/>
            </a:avLst>
          </a:prstGeom>
          <a:solidFill>
            <a:srgbClr val="F1F5F9"/>
          </a:solidFill>
          <a:ln w="12700">
            <a:solidFill>
              <a:srgbClr val="E2E8F0"/>
            </a:solidFill>
            <a:prstDash val="solid"/>
          </a:ln>
        </p:spPr>
      </p:sp>
      <p:sp>
        <p:nvSpPr>
          <p:cNvPr id="21" name="Text 19"/>
          <p:cNvSpPr/>
          <p:nvPr/>
        </p:nvSpPr>
        <p:spPr>
          <a:xfrm>
            <a:off x="6126480" y="4572000"/>
            <a:ext cx="1828800" cy="320040"/>
          </a:xfrm>
          <a:prstGeom prst="rect">
            <a:avLst/>
          </a:prstGeom>
          <a:noFill/>
          <a:ln/>
        </p:spPr>
        <p:txBody>
          <a:bodyPr wrap="square" rtlCol="0" anchor="ctr"/>
          <a:lstStyle/>
          <a:p>
            <a:pPr marL="0" indent="0" algn="ctr">
              <a:buNone/>
            </a:pPr>
            <a:r>
              <a:rPr lang="en-US" sz="1100" b="1" dirty="0">
                <a:solidFill>
                  <a:srgbClr val="006747"/>
                </a:solidFill>
              </a:rPr>
              <a:t>JavaScript ES6</a:t>
            </a:r>
            <a:endParaRPr lang="en-US" sz="1100" dirty="0"/>
          </a:p>
        </p:txBody>
      </p:sp>
      <p:sp>
        <p:nvSpPr>
          <p:cNvPr id="22" name="Text 20"/>
          <p:cNvSpPr/>
          <p:nvPr/>
        </p:nvSpPr>
        <p:spPr>
          <a:xfrm>
            <a:off x="6126480" y="4892040"/>
            <a:ext cx="1828800" cy="274320"/>
          </a:xfrm>
          <a:prstGeom prst="rect">
            <a:avLst/>
          </a:prstGeom>
          <a:noFill/>
          <a:ln/>
        </p:spPr>
        <p:txBody>
          <a:bodyPr wrap="square" rtlCol="0" anchor="ctr"/>
          <a:lstStyle/>
          <a:p>
            <a:pPr marL="0" indent="0" algn="ctr">
              <a:buNone/>
            </a:pPr>
            <a:r>
              <a:rPr lang="en-US" sz="950" dirty="0">
                <a:solidFill>
                  <a:srgbClr val="64748B"/>
                </a:solidFill>
              </a:rPr>
              <a:t>Algoritma Denda</a:t>
            </a:r>
            <a:endParaRPr lang="en-US" sz="950" dirty="0"/>
          </a:p>
        </p:txBody>
      </p:sp>
      <p:sp>
        <p:nvSpPr>
          <p:cNvPr id="23" name="Shape 21"/>
          <p:cNvSpPr/>
          <p:nvPr/>
        </p:nvSpPr>
        <p:spPr>
          <a:xfrm>
            <a:off x="8092440" y="4434840"/>
            <a:ext cx="1828800" cy="1097280"/>
          </a:xfrm>
          <a:prstGeom prst="roundRect">
            <a:avLst>
              <a:gd name="adj" fmla="val 8333"/>
            </a:avLst>
          </a:prstGeom>
          <a:solidFill>
            <a:srgbClr val="F1F5F9"/>
          </a:solidFill>
          <a:ln w="12700">
            <a:solidFill>
              <a:srgbClr val="E2E8F0"/>
            </a:solidFill>
            <a:prstDash val="solid"/>
          </a:ln>
        </p:spPr>
      </p:sp>
      <p:sp>
        <p:nvSpPr>
          <p:cNvPr id="24" name="Text 22"/>
          <p:cNvSpPr/>
          <p:nvPr/>
        </p:nvSpPr>
        <p:spPr>
          <a:xfrm>
            <a:off x="8092440" y="4572000"/>
            <a:ext cx="1828800" cy="320040"/>
          </a:xfrm>
          <a:prstGeom prst="rect">
            <a:avLst/>
          </a:prstGeom>
          <a:noFill/>
          <a:ln/>
        </p:spPr>
        <p:txBody>
          <a:bodyPr wrap="square" rtlCol="0" anchor="ctr"/>
          <a:lstStyle/>
          <a:p>
            <a:pPr marL="0" indent="0" algn="ctr">
              <a:buNone/>
            </a:pPr>
            <a:r>
              <a:rPr lang="en-US" sz="1100" b="1" dirty="0">
                <a:solidFill>
                  <a:srgbClr val="006747"/>
                </a:solidFill>
              </a:rPr>
              <a:t>Canvas 2D API</a:t>
            </a:r>
            <a:endParaRPr lang="en-US" sz="1100" dirty="0"/>
          </a:p>
        </p:txBody>
      </p:sp>
      <p:sp>
        <p:nvSpPr>
          <p:cNvPr id="25" name="Text 23"/>
          <p:cNvSpPr/>
          <p:nvPr/>
        </p:nvSpPr>
        <p:spPr>
          <a:xfrm>
            <a:off x="8092440" y="4892040"/>
            <a:ext cx="1828800" cy="274320"/>
          </a:xfrm>
          <a:prstGeom prst="rect">
            <a:avLst/>
          </a:prstGeom>
          <a:noFill/>
          <a:ln/>
        </p:spPr>
        <p:txBody>
          <a:bodyPr wrap="square" rtlCol="0" anchor="ctr"/>
          <a:lstStyle/>
          <a:p>
            <a:pPr marL="0" indent="0" algn="ctr">
              <a:buNone/>
            </a:pPr>
            <a:r>
              <a:rPr lang="en-US" sz="950" dirty="0">
                <a:solidFill>
                  <a:srgbClr val="64748B"/>
                </a:solidFill>
              </a:rPr>
              <a:t>Paraf Digital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no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GAMBARAN UMUM</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About SIPUS DIGITAL</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3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sp>
        <p:nvSpPr>
          <p:cNvPr id="8" name="Shape 6"/>
          <p:cNvSpPr/>
          <p:nvPr/>
        </p:nvSpPr>
        <p:spPr>
          <a:xfrm>
            <a:off x="731520" y="1325880"/>
            <a:ext cx="3840480" cy="4846320"/>
          </a:xfrm>
          <a:prstGeom prst="roundRect">
            <a:avLst>
              <a:gd name="adj" fmla="val 3571"/>
            </a:avLst>
          </a:prstGeom>
          <a:solidFill>
            <a:srgbClr val="006747"/>
          </a:solidFill>
          <a:ln/>
        </p:spPr>
      </p:sp>
      <p:sp>
        <p:nvSpPr>
          <p:cNvPr id="9" name="Text 7"/>
          <p:cNvSpPr/>
          <p:nvPr/>
        </p:nvSpPr>
        <p:spPr>
          <a:xfrm>
            <a:off x="1005840" y="1645920"/>
            <a:ext cx="3291840" cy="914400"/>
          </a:xfrm>
          <a:prstGeom prst="rect">
            <a:avLst/>
          </a:prstGeom>
          <a:noFill/>
          <a:ln/>
        </p:spPr>
        <p:txBody>
          <a:bodyPr wrap="square" rtlCol="0" anchor="ctr"/>
          <a:lstStyle/>
          <a:p>
            <a:pPr marL="0" indent="0">
              <a:lnSpc>
                <a:spcPts val="2600"/>
              </a:lnSpc>
              <a:buNone/>
            </a:pPr>
            <a:r>
              <a:rPr lang="en-US" sz="2400" b="1" dirty="0">
                <a:solidFill>
                  <a:srgbClr val="FFFFFF"/>
                </a:solidFill>
              </a:rPr>
              <a:t>ABOUT</a:t>
            </a:r>
            <a:endParaRPr lang="en-US" sz="2400" dirty="0"/>
          </a:p>
          <a:p>
            <a:pPr marL="0" indent="0">
              <a:lnSpc>
                <a:spcPts val="2600"/>
              </a:lnSpc>
              <a:buNone/>
            </a:pPr>
            <a:r>
              <a:rPr lang="en-US" sz="2400" b="1" dirty="0">
                <a:solidFill>
                  <a:srgbClr val="FFFFFF"/>
                </a:solidFill>
              </a:rPr>
              <a:t>SIPUS DIGITAL</a:t>
            </a:r>
            <a:endParaRPr lang="en-US" sz="2400" dirty="0"/>
          </a:p>
        </p:txBody>
      </p:sp>
      <p:sp>
        <p:nvSpPr>
          <p:cNvPr id="10" name="Text 8"/>
          <p:cNvSpPr/>
          <p:nvPr/>
        </p:nvSpPr>
        <p:spPr>
          <a:xfrm>
            <a:off x="1005840" y="2743200"/>
            <a:ext cx="3291840" cy="2286000"/>
          </a:xfrm>
          <a:prstGeom prst="rect">
            <a:avLst/>
          </a:prstGeom>
          <a:noFill/>
          <a:ln/>
        </p:spPr>
        <p:txBody>
          <a:bodyPr wrap="square" rtlCol="0" anchor="ctr"/>
          <a:lstStyle/>
          <a:p>
            <a:pPr marL="0" indent="0">
              <a:lnSpc>
                <a:spcPts val="2000"/>
              </a:lnSpc>
              <a:buNone/>
            </a:pPr>
            <a:r>
              <a:rPr lang="en-US" sz="1200" dirty="0">
                <a:solidFill>
                  <a:srgbClr val="CBD5E1"/>
                </a:solidFill>
              </a:rPr>
              <a:t>SIPUS DIGITAL adalah sistem informasi sirkulasi perpustakaan berbasis web yang dibangun untuk membantu petugas dan pemustaka dalam memantau sirkulasi buku, perhitungan denda otomatis, dan verifikasi tanda tangan secara ringkas, akurat, dan cepat.</a:t>
            </a:r>
            <a:endParaRPr lang="en-US" sz="1200" dirty="0"/>
          </a:p>
        </p:txBody>
      </p:sp>
      <p:sp>
        <p:nvSpPr>
          <p:cNvPr id="11" name="Shape 9"/>
          <p:cNvSpPr/>
          <p:nvPr/>
        </p:nvSpPr>
        <p:spPr>
          <a:xfrm>
            <a:off x="1005840" y="5303520"/>
            <a:ext cx="3291840" cy="45720"/>
          </a:xfrm>
          <a:prstGeom prst="rect">
            <a:avLst/>
          </a:prstGeom>
          <a:solidFill>
            <a:srgbClr val="F59E0B"/>
          </a:solidFill>
          <a:ln/>
        </p:spPr>
      </p:sp>
      <p:sp>
        <p:nvSpPr>
          <p:cNvPr id="12" name="Shape 10"/>
          <p:cNvSpPr/>
          <p:nvPr/>
        </p:nvSpPr>
        <p:spPr>
          <a:xfrm>
            <a:off x="4846320" y="1325880"/>
            <a:ext cx="3405909" cy="1143000"/>
          </a:xfrm>
          <a:prstGeom prst="roundRect">
            <a:avLst>
              <a:gd name="adj" fmla="val 8000"/>
            </a:avLst>
          </a:prstGeom>
          <a:solidFill>
            <a:srgbClr val="FFFFFF"/>
          </a:solidFill>
          <a:ln w="12700">
            <a:solidFill>
              <a:srgbClr val="E2E8F0"/>
            </a:solidFill>
            <a:prstDash val="solid"/>
          </a:ln>
        </p:spPr>
      </p:sp>
      <p:sp>
        <p:nvSpPr>
          <p:cNvPr id="13" name="Shape 11"/>
          <p:cNvSpPr/>
          <p:nvPr/>
        </p:nvSpPr>
        <p:spPr>
          <a:xfrm>
            <a:off x="4846320" y="1325880"/>
            <a:ext cx="137160" cy="1143000"/>
          </a:xfrm>
          <a:prstGeom prst="rect">
            <a:avLst/>
          </a:prstGeom>
          <a:solidFill>
            <a:srgbClr val="006747"/>
          </a:solidFill>
          <a:ln/>
        </p:spPr>
      </p:sp>
      <p:sp>
        <p:nvSpPr>
          <p:cNvPr id="14" name="Text 12"/>
          <p:cNvSpPr/>
          <p:nvPr/>
        </p:nvSpPr>
        <p:spPr>
          <a:xfrm>
            <a:off x="5212080" y="1463040"/>
            <a:ext cx="4114800" cy="274320"/>
          </a:xfrm>
          <a:prstGeom prst="rect">
            <a:avLst/>
          </a:prstGeom>
          <a:noFill/>
          <a:ln/>
        </p:spPr>
        <p:txBody>
          <a:bodyPr wrap="square" rtlCol="0" anchor="ctr"/>
          <a:lstStyle/>
          <a:p>
            <a:pPr marL="0" indent="0">
              <a:buNone/>
            </a:pPr>
            <a:r>
              <a:rPr lang="en-US" sz="1100" b="1" dirty="0">
                <a:solidFill>
                  <a:srgbClr val="64748B"/>
                </a:solidFill>
              </a:rPr>
              <a:t>Total Sirkulasi Buku</a:t>
            </a:r>
            <a:endParaRPr lang="en-US" sz="1100" dirty="0"/>
          </a:p>
        </p:txBody>
      </p:sp>
      <p:sp>
        <p:nvSpPr>
          <p:cNvPr id="15" name="Text 13"/>
          <p:cNvSpPr/>
          <p:nvPr/>
        </p:nvSpPr>
        <p:spPr>
          <a:xfrm>
            <a:off x="5212080" y="1737360"/>
            <a:ext cx="4114800" cy="411480"/>
          </a:xfrm>
          <a:prstGeom prst="rect">
            <a:avLst/>
          </a:prstGeom>
          <a:noFill/>
          <a:ln/>
        </p:spPr>
        <p:txBody>
          <a:bodyPr wrap="square" rtlCol="0" anchor="ctr"/>
          <a:lstStyle/>
          <a:p>
            <a:pPr marL="0" indent="0">
              <a:buNone/>
            </a:pPr>
            <a:r>
              <a:rPr lang="en-US" sz="2000" b="1" dirty="0">
                <a:solidFill>
                  <a:srgbClr val="062C24"/>
                </a:solidFill>
              </a:rPr>
              <a:t>3+ Transaksi</a:t>
            </a:r>
            <a:endParaRPr lang="en-US" sz="2000" dirty="0"/>
          </a:p>
        </p:txBody>
      </p:sp>
      <p:sp>
        <p:nvSpPr>
          <p:cNvPr id="16" name="Text 14"/>
          <p:cNvSpPr/>
          <p:nvPr/>
        </p:nvSpPr>
        <p:spPr>
          <a:xfrm>
            <a:off x="5212080" y="2130552"/>
            <a:ext cx="5486400" cy="228600"/>
          </a:xfrm>
          <a:prstGeom prst="rect">
            <a:avLst/>
          </a:prstGeom>
          <a:noFill/>
          <a:ln/>
        </p:spPr>
        <p:txBody>
          <a:bodyPr wrap="square" rtlCol="0" anchor="ctr"/>
          <a:lstStyle/>
          <a:p>
            <a:pPr marL="0" indent="0">
              <a:buNone/>
            </a:pPr>
            <a:r>
              <a:rPr lang="en-US" sz="1000" dirty="0">
                <a:solidFill>
                  <a:srgbClr val="1E293B"/>
                </a:solidFill>
              </a:rPr>
              <a:t>Data peminjaman aktif &amp; riwayat</a:t>
            </a:r>
            <a:endParaRPr lang="en-US" sz="1000" dirty="0"/>
          </a:p>
        </p:txBody>
      </p:sp>
      <p:sp>
        <p:nvSpPr>
          <p:cNvPr id="17" name="Shape 15"/>
          <p:cNvSpPr/>
          <p:nvPr/>
        </p:nvSpPr>
        <p:spPr>
          <a:xfrm>
            <a:off x="4846320" y="2606040"/>
            <a:ext cx="3405909" cy="1143000"/>
          </a:xfrm>
          <a:prstGeom prst="roundRect">
            <a:avLst>
              <a:gd name="adj" fmla="val 8000"/>
            </a:avLst>
          </a:prstGeom>
          <a:solidFill>
            <a:srgbClr val="FFFFFF"/>
          </a:solidFill>
          <a:ln w="12700">
            <a:solidFill>
              <a:srgbClr val="E2E8F0"/>
            </a:solidFill>
            <a:prstDash val="solid"/>
          </a:ln>
        </p:spPr>
      </p:sp>
      <p:sp>
        <p:nvSpPr>
          <p:cNvPr id="18" name="Shape 16"/>
          <p:cNvSpPr/>
          <p:nvPr/>
        </p:nvSpPr>
        <p:spPr>
          <a:xfrm>
            <a:off x="4846320" y="2606040"/>
            <a:ext cx="137160" cy="1143000"/>
          </a:xfrm>
          <a:prstGeom prst="rect">
            <a:avLst/>
          </a:prstGeom>
          <a:solidFill>
            <a:srgbClr val="F59E0B"/>
          </a:solidFill>
          <a:ln/>
        </p:spPr>
      </p:sp>
      <p:sp>
        <p:nvSpPr>
          <p:cNvPr id="19" name="Text 17"/>
          <p:cNvSpPr/>
          <p:nvPr/>
        </p:nvSpPr>
        <p:spPr>
          <a:xfrm>
            <a:off x="5212080" y="2743200"/>
            <a:ext cx="4114800" cy="274320"/>
          </a:xfrm>
          <a:prstGeom prst="rect">
            <a:avLst/>
          </a:prstGeom>
          <a:noFill/>
          <a:ln/>
        </p:spPr>
        <p:txBody>
          <a:bodyPr wrap="square" rtlCol="0" anchor="ctr"/>
          <a:lstStyle/>
          <a:p>
            <a:pPr marL="0" indent="0">
              <a:buNone/>
            </a:pPr>
            <a:r>
              <a:rPr lang="en-US" sz="1100" b="1" dirty="0">
                <a:solidFill>
                  <a:srgbClr val="64748B"/>
                </a:solidFill>
              </a:rPr>
              <a:t>Aturan Maksimal Pinjam</a:t>
            </a:r>
            <a:endParaRPr lang="en-US" sz="1100" dirty="0"/>
          </a:p>
        </p:txBody>
      </p:sp>
      <p:sp>
        <p:nvSpPr>
          <p:cNvPr id="20" name="Text 18"/>
          <p:cNvSpPr/>
          <p:nvPr/>
        </p:nvSpPr>
        <p:spPr>
          <a:xfrm>
            <a:off x="5212080" y="3017520"/>
            <a:ext cx="4114800" cy="411480"/>
          </a:xfrm>
          <a:prstGeom prst="rect">
            <a:avLst/>
          </a:prstGeom>
          <a:noFill/>
          <a:ln/>
        </p:spPr>
        <p:txBody>
          <a:bodyPr wrap="square" rtlCol="0" anchor="ctr"/>
          <a:lstStyle/>
          <a:p>
            <a:pPr marL="0" indent="0">
              <a:buNone/>
            </a:pPr>
            <a:r>
              <a:rPr lang="en-US" sz="2000" b="1" dirty="0">
                <a:solidFill>
                  <a:srgbClr val="062C24"/>
                </a:solidFill>
              </a:rPr>
              <a:t>7 Hari</a:t>
            </a:r>
            <a:endParaRPr lang="en-US" sz="2000" dirty="0"/>
          </a:p>
        </p:txBody>
      </p:sp>
      <p:sp>
        <p:nvSpPr>
          <p:cNvPr id="21" name="Text 19"/>
          <p:cNvSpPr/>
          <p:nvPr/>
        </p:nvSpPr>
        <p:spPr>
          <a:xfrm>
            <a:off x="5212080" y="3410712"/>
            <a:ext cx="5486400" cy="228600"/>
          </a:xfrm>
          <a:prstGeom prst="rect">
            <a:avLst/>
          </a:prstGeom>
          <a:noFill/>
          <a:ln/>
        </p:spPr>
        <p:txBody>
          <a:bodyPr wrap="square" rtlCol="0" anchor="ctr"/>
          <a:lstStyle/>
          <a:p>
            <a:pPr marL="0" indent="0">
              <a:buNone/>
            </a:pPr>
            <a:r>
              <a:rPr lang="en-US" sz="1000" dirty="0">
                <a:solidFill>
                  <a:srgbClr val="1E293B"/>
                </a:solidFill>
              </a:rPr>
              <a:t>Batas waktu bebas denda</a:t>
            </a:r>
            <a:endParaRPr lang="en-US" sz="1000" dirty="0"/>
          </a:p>
        </p:txBody>
      </p:sp>
      <p:sp>
        <p:nvSpPr>
          <p:cNvPr id="22" name="Shape 20"/>
          <p:cNvSpPr/>
          <p:nvPr/>
        </p:nvSpPr>
        <p:spPr>
          <a:xfrm>
            <a:off x="4846320" y="3886200"/>
            <a:ext cx="3405909" cy="1143000"/>
          </a:xfrm>
          <a:prstGeom prst="roundRect">
            <a:avLst>
              <a:gd name="adj" fmla="val 8000"/>
            </a:avLst>
          </a:prstGeom>
          <a:solidFill>
            <a:srgbClr val="FFFFFF"/>
          </a:solidFill>
          <a:ln w="12700">
            <a:solidFill>
              <a:srgbClr val="E2E8F0"/>
            </a:solidFill>
            <a:prstDash val="solid"/>
          </a:ln>
        </p:spPr>
      </p:sp>
      <p:sp>
        <p:nvSpPr>
          <p:cNvPr id="23" name="Shape 21"/>
          <p:cNvSpPr/>
          <p:nvPr/>
        </p:nvSpPr>
        <p:spPr>
          <a:xfrm>
            <a:off x="4846320" y="3886200"/>
            <a:ext cx="137160" cy="1143000"/>
          </a:xfrm>
          <a:prstGeom prst="rect">
            <a:avLst/>
          </a:prstGeom>
          <a:solidFill>
            <a:srgbClr val="062C24"/>
          </a:solidFill>
          <a:ln/>
        </p:spPr>
      </p:sp>
      <p:sp>
        <p:nvSpPr>
          <p:cNvPr id="24" name="Text 22"/>
          <p:cNvSpPr/>
          <p:nvPr/>
        </p:nvSpPr>
        <p:spPr>
          <a:xfrm>
            <a:off x="5212080" y="4023360"/>
            <a:ext cx="4114800" cy="274320"/>
          </a:xfrm>
          <a:prstGeom prst="rect">
            <a:avLst/>
          </a:prstGeom>
          <a:noFill/>
          <a:ln/>
        </p:spPr>
        <p:txBody>
          <a:bodyPr wrap="square" rtlCol="0" anchor="ctr"/>
          <a:lstStyle/>
          <a:p>
            <a:pPr marL="0" indent="0">
              <a:buNone/>
            </a:pPr>
            <a:r>
              <a:rPr lang="en-US" sz="1100" b="1" dirty="0">
                <a:solidFill>
                  <a:srgbClr val="64748B"/>
                </a:solidFill>
              </a:rPr>
              <a:t>Tarif Denda Otomatis</a:t>
            </a:r>
            <a:endParaRPr lang="en-US" sz="1100" dirty="0"/>
          </a:p>
        </p:txBody>
      </p:sp>
      <p:sp>
        <p:nvSpPr>
          <p:cNvPr id="25" name="Text 23"/>
          <p:cNvSpPr/>
          <p:nvPr/>
        </p:nvSpPr>
        <p:spPr>
          <a:xfrm>
            <a:off x="5212080" y="4297680"/>
            <a:ext cx="4114800" cy="411480"/>
          </a:xfrm>
          <a:prstGeom prst="rect">
            <a:avLst/>
          </a:prstGeom>
          <a:noFill/>
          <a:ln/>
        </p:spPr>
        <p:txBody>
          <a:bodyPr wrap="square" rtlCol="0" anchor="ctr"/>
          <a:lstStyle/>
          <a:p>
            <a:pPr marL="0" indent="0">
              <a:buNone/>
            </a:pPr>
            <a:r>
              <a:rPr lang="en-US" sz="2000" b="1" dirty="0">
                <a:solidFill>
                  <a:srgbClr val="062C24"/>
                </a:solidFill>
              </a:rPr>
              <a:t>Rp 2.000 / Hari</a:t>
            </a:r>
            <a:endParaRPr lang="en-US" sz="2000" dirty="0"/>
          </a:p>
        </p:txBody>
      </p:sp>
      <p:sp>
        <p:nvSpPr>
          <p:cNvPr id="26" name="Text 24"/>
          <p:cNvSpPr/>
          <p:nvPr/>
        </p:nvSpPr>
        <p:spPr>
          <a:xfrm>
            <a:off x="5212080" y="4690872"/>
            <a:ext cx="5486400" cy="228600"/>
          </a:xfrm>
          <a:prstGeom prst="rect">
            <a:avLst/>
          </a:prstGeom>
          <a:noFill/>
          <a:ln/>
        </p:spPr>
        <p:txBody>
          <a:bodyPr wrap="square" rtlCol="0" anchor="ctr"/>
          <a:lstStyle/>
          <a:p>
            <a:pPr marL="0" indent="0">
              <a:buNone/>
            </a:pPr>
            <a:r>
              <a:rPr lang="en-US" sz="1000" dirty="0">
                <a:solidFill>
                  <a:srgbClr val="1E293B"/>
                </a:solidFill>
              </a:rPr>
              <a:t>Kalkulasi sekuensial real-time</a:t>
            </a:r>
            <a:endParaRPr lang="en-US" sz="1000" dirty="0"/>
          </a:p>
        </p:txBody>
      </p:sp>
      <p:sp>
        <p:nvSpPr>
          <p:cNvPr id="27" name="Shape 25"/>
          <p:cNvSpPr/>
          <p:nvPr/>
        </p:nvSpPr>
        <p:spPr>
          <a:xfrm>
            <a:off x="4846320" y="5212080"/>
            <a:ext cx="3405909" cy="960120"/>
          </a:xfrm>
          <a:prstGeom prst="roundRect">
            <a:avLst>
              <a:gd name="adj" fmla="val 9524"/>
            </a:avLst>
          </a:prstGeom>
          <a:solidFill>
            <a:srgbClr val="F1F5F9"/>
          </a:solidFill>
          <a:ln w="12700">
            <a:solidFill>
              <a:srgbClr val="E2E8F0"/>
            </a:solidFill>
            <a:prstDash val="solid"/>
          </a:ln>
        </p:spPr>
      </p:sp>
      <p:sp>
        <p:nvSpPr>
          <p:cNvPr id="28" name="Text 26"/>
          <p:cNvSpPr/>
          <p:nvPr/>
        </p:nvSpPr>
        <p:spPr>
          <a:xfrm>
            <a:off x="5029200" y="5532120"/>
            <a:ext cx="3070860" cy="365760"/>
          </a:xfrm>
          <a:prstGeom prst="rect">
            <a:avLst/>
          </a:prstGeom>
          <a:noFill/>
          <a:ln/>
        </p:spPr>
        <p:txBody>
          <a:bodyPr wrap="square" rtlCol="0" anchor="ctr"/>
          <a:lstStyle/>
          <a:p>
            <a:pPr marL="0" indent="0" algn="ctr">
              <a:buNone/>
            </a:pPr>
            <a:r>
              <a:rPr lang="en-US" sz="1050" b="1" dirty="0">
                <a:solidFill>
                  <a:srgbClr val="006747"/>
                </a:solidFill>
              </a:rPr>
              <a:t>Modul Tersedia : Form Peminjaman • Filter Real-Time • Canvas Tanda Tangan • Video Profil • Audio Bel</a:t>
            </a:r>
            <a:endParaRPr lang="en-US" sz="1050" dirty="0"/>
          </a:p>
        </p:txBody>
      </p:sp>
      <p:pic>
        <p:nvPicPr>
          <p:cNvPr id="1026" name="Picture 2">
            <a:extLst>
              <a:ext uri="{FF2B5EF4-FFF2-40B4-BE49-F238E27FC236}">
                <a16:creationId xmlns:a16="http://schemas.microsoft.com/office/drawing/2014/main" id="{C84383B7-C55D-4352-A732-A36C679FA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6549" y="1328189"/>
            <a:ext cx="3342132" cy="46634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no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ANALISIS KEBUTUHAN</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Latar Belakang Masalah &amp; Urgensi Solusi</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4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sp>
        <p:nvSpPr>
          <p:cNvPr id="8" name="Shape 6"/>
          <p:cNvSpPr/>
          <p:nvPr/>
        </p:nvSpPr>
        <p:spPr>
          <a:xfrm>
            <a:off x="731520" y="1371600"/>
            <a:ext cx="3447288" cy="4754880"/>
          </a:xfrm>
          <a:prstGeom prst="roundRect">
            <a:avLst>
              <a:gd name="adj" fmla="val 3183"/>
            </a:avLst>
          </a:prstGeom>
          <a:solidFill>
            <a:srgbClr val="FFFFFF"/>
          </a:solidFill>
          <a:ln w="12700">
            <a:solidFill>
              <a:srgbClr val="E2E8F0"/>
            </a:solidFill>
            <a:prstDash val="solid"/>
          </a:ln>
        </p:spPr>
      </p:sp>
      <p:sp>
        <p:nvSpPr>
          <p:cNvPr id="9" name="Shape 7"/>
          <p:cNvSpPr/>
          <p:nvPr/>
        </p:nvSpPr>
        <p:spPr>
          <a:xfrm>
            <a:off x="731520" y="1371600"/>
            <a:ext cx="3447288" cy="822960"/>
          </a:xfrm>
          <a:prstGeom prst="rect">
            <a:avLst/>
          </a:prstGeom>
          <a:solidFill>
            <a:srgbClr val="006747"/>
          </a:solidFill>
          <a:ln/>
        </p:spPr>
      </p:sp>
      <p:sp>
        <p:nvSpPr>
          <p:cNvPr id="10" name="Text 8"/>
          <p:cNvSpPr/>
          <p:nvPr/>
        </p:nvSpPr>
        <p:spPr>
          <a:xfrm>
            <a:off x="1005840" y="1463040"/>
            <a:ext cx="2898648" cy="594360"/>
          </a:xfrm>
          <a:prstGeom prst="rect">
            <a:avLst/>
          </a:prstGeom>
          <a:noFill/>
          <a:ln/>
        </p:spPr>
        <p:txBody>
          <a:bodyPr wrap="square" rtlCol="0" anchor="ctr"/>
          <a:lstStyle/>
          <a:p>
            <a:pPr marL="0" indent="0">
              <a:buNone/>
            </a:pPr>
            <a:r>
              <a:rPr lang="en-US" sz="2800" b="1" dirty="0">
                <a:solidFill>
                  <a:srgbClr val="F59E0B"/>
                </a:solidFill>
              </a:rPr>
              <a:t>01</a:t>
            </a:r>
            <a:endParaRPr lang="en-US" sz="2800" dirty="0"/>
          </a:p>
        </p:txBody>
      </p:sp>
      <p:sp>
        <p:nvSpPr>
          <p:cNvPr id="11" name="Text 9"/>
          <p:cNvSpPr/>
          <p:nvPr/>
        </p:nvSpPr>
        <p:spPr>
          <a:xfrm>
            <a:off x="1005840" y="2423160"/>
            <a:ext cx="2898648" cy="548640"/>
          </a:xfrm>
          <a:prstGeom prst="rect">
            <a:avLst/>
          </a:prstGeom>
          <a:noFill/>
          <a:ln/>
        </p:spPr>
        <p:txBody>
          <a:bodyPr wrap="square" rtlCol="0" anchor="ctr"/>
          <a:lstStyle/>
          <a:p>
            <a:pPr marL="0" indent="0">
              <a:buNone/>
            </a:pPr>
            <a:r>
              <a:rPr lang="en-US" sz="1400" b="1" dirty="0">
                <a:solidFill>
                  <a:srgbClr val="062C24"/>
                </a:solidFill>
              </a:rPr>
              <a:t>Pencatatan Masih Manual</a:t>
            </a:r>
            <a:endParaRPr lang="en-US" sz="1400" dirty="0"/>
          </a:p>
        </p:txBody>
      </p:sp>
      <p:sp>
        <p:nvSpPr>
          <p:cNvPr id="12" name="Text 10"/>
          <p:cNvSpPr/>
          <p:nvPr/>
        </p:nvSpPr>
        <p:spPr>
          <a:xfrm>
            <a:off x="1005840" y="3063240"/>
            <a:ext cx="2898648" cy="2560320"/>
          </a:xfrm>
          <a:prstGeom prst="rect">
            <a:avLst/>
          </a:prstGeom>
          <a:noFill/>
          <a:ln/>
        </p:spPr>
        <p:txBody>
          <a:bodyPr wrap="square" rtlCol="0" anchor="ctr"/>
          <a:lstStyle/>
          <a:p>
            <a:pPr marL="0" indent="0">
              <a:lnSpc>
                <a:spcPts val="1800"/>
              </a:lnSpc>
              <a:buNone/>
            </a:pPr>
            <a:r>
              <a:rPr lang="en-US" sz="1100" dirty="0">
                <a:solidFill>
                  <a:srgbClr val="1E293B"/>
                </a:solidFill>
              </a:rPr>
              <a:t>Pencatatan sirkulasi manual di buku besar rawan salah tulis, tercecer, dan memakan waktu lama saat pencarian riwayat peminjaman pemustaka.</a:t>
            </a:r>
            <a:endParaRPr lang="en-US" sz="1100" dirty="0"/>
          </a:p>
        </p:txBody>
      </p:sp>
      <p:sp>
        <p:nvSpPr>
          <p:cNvPr id="13" name="Shape 11"/>
          <p:cNvSpPr/>
          <p:nvPr/>
        </p:nvSpPr>
        <p:spPr>
          <a:xfrm>
            <a:off x="4361688" y="1371600"/>
            <a:ext cx="3447288" cy="4754880"/>
          </a:xfrm>
          <a:prstGeom prst="roundRect">
            <a:avLst>
              <a:gd name="adj" fmla="val 3183"/>
            </a:avLst>
          </a:prstGeom>
          <a:solidFill>
            <a:srgbClr val="FFFFFF"/>
          </a:solidFill>
          <a:ln w="12700">
            <a:solidFill>
              <a:srgbClr val="E2E8F0"/>
            </a:solidFill>
            <a:prstDash val="solid"/>
          </a:ln>
        </p:spPr>
      </p:sp>
      <p:sp>
        <p:nvSpPr>
          <p:cNvPr id="14" name="Shape 12"/>
          <p:cNvSpPr/>
          <p:nvPr/>
        </p:nvSpPr>
        <p:spPr>
          <a:xfrm>
            <a:off x="4361688" y="1371600"/>
            <a:ext cx="3447288" cy="822960"/>
          </a:xfrm>
          <a:prstGeom prst="rect">
            <a:avLst/>
          </a:prstGeom>
          <a:solidFill>
            <a:srgbClr val="006747"/>
          </a:solidFill>
          <a:ln/>
        </p:spPr>
      </p:sp>
      <p:sp>
        <p:nvSpPr>
          <p:cNvPr id="15" name="Text 13"/>
          <p:cNvSpPr/>
          <p:nvPr/>
        </p:nvSpPr>
        <p:spPr>
          <a:xfrm>
            <a:off x="4636008" y="1463040"/>
            <a:ext cx="2898648" cy="594360"/>
          </a:xfrm>
          <a:prstGeom prst="rect">
            <a:avLst/>
          </a:prstGeom>
          <a:noFill/>
          <a:ln/>
        </p:spPr>
        <p:txBody>
          <a:bodyPr wrap="square" rtlCol="0" anchor="ctr"/>
          <a:lstStyle/>
          <a:p>
            <a:pPr marL="0" indent="0">
              <a:buNone/>
            </a:pPr>
            <a:r>
              <a:rPr lang="en-US" sz="2800" b="1" dirty="0">
                <a:solidFill>
                  <a:srgbClr val="F59E0B"/>
                </a:solidFill>
              </a:rPr>
              <a:t>02</a:t>
            </a:r>
            <a:endParaRPr lang="en-US" sz="2800" dirty="0"/>
          </a:p>
        </p:txBody>
      </p:sp>
      <p:sp>
        <p:nvSpPr>
          <p:cNvPr id="16" name="Text 14"/>
          <p:cNvSpPr/>
          <p:nvPr/>
        </p:nvSpPr>
        <p:spPr>
          <a:xfrm>
            <a:off x="4636008" y="2423160"/>
            <a:ext cx="2898648" cy="548640"/>
          </a:xfrm>
          <a:prstGeom prst="rect">
            <a:avLst/>
          </a:prstGeom>
          <a:noFill/>
          <a:ln/>
        </p:spPr>
        <p:txBody>
          <a:bodyPr wrap="square" rtlCol="0" anchor="ctr"/>
          <a:lstStyle/>
          <a:p>
            <a:pPr marL="0" indent="0">
              <a:buNone/>
            </a:pPr>
            <a:r>
              <a:rPr lang="en-US" sz="1400" b="1" dirty="0">
                <a:solidFill>
                  <a:srgbClr val="062C24"/>
                </a:solidFill>
              </a:rPr>
              <a:t>Keterlambatan &amp; Sengketa Denda</a:t>
            </a:r>
            <a:endParaRPr lang="en-US" sz="1400" dirty="0"/>
          </a:p>
        </p:txBody>
      </p:sp>
      <p:sp>
        <p:nvSpPr>
          <p:cNvPr id="17" name="Text 15"/>
          <p:cNvSpPr/>
          <p:nvPr/>
        </p:nvSpPr>
        <p:spPr>
          <a:xfrm>
            <a:off x="4636008" y="3063240"/>
            <a:ext cx="2898648" cy="2560320"/>
          </a:xfrm>
          <a:prstGeom prst="rect">
            <a:avLst/>
          </a:prstGeom>
          <a:noFill/>
          <a:ln/>
        </p:spPr>
        <p:txBody>
          <a:bodyPr wrap="square" rtlCol="0" anchor="ctr"/>
          <a:lstStyle/>
          <a:p>
            <a:pPr marL="0" indent="0">
              <a:lnSpc>
                <a:spcPts val="1800"/>
              </a:lnSpc>
              <a:buNone/>
            </a:pPr>
            <a:r>
              <a:rPr lang="en-US" sz="1100" dirty="0">
                <a:solidFill>
                  <a:srgbClr val="1E293B"/>
                </a:solidFill>
              </a:rPr>
              <a:t>Penghitungan denda yang dihitung manual sering memicu selisih hitung antara petugas dan mahasiswa karena salah menghitung selisih hari pinjam.</a:t>
            </a:r>
            <a:endParaRPr lang="en-US" sz="1100" dirty="0"/>
          </a:p>
        </p:txBody>
      </p:sp>
      <p:sp>
        <p:nvSpPr>
          <p:cNvPr id="18" name="Shape 16"/>
          <p:cNvSpPr/>
          <p:nvPr/>
        </p:nvSpPr>
        <p:spPr>
          <a:xfrm>
            <a:off x="7991856" y="1371600"/>
            <a:ext cx="3447288" cy="4754880"/>
          </a:xfrm>
          <a:prstGeom prst="roundRect">
            <a:avLst>
              <a:gd name="adj" fmla="val 3183"/>
            </a:avLst>
          </a:prstGeom>
          <a:solidFill>
            <a:srgbClr val="FFFFFF"/>
          </a:solidFill>
          <a:ln w="12700">
            <a:solidFill>
              <a:srgbClr val="E2E8F0"/>
            </a:solidFill>
            <a:prstDash val="solid"/>
          </a:ln>
        </p:spPr>
      </p:sp>
      <p:sp>
        <p:nvSpPr>
          <p:cNvPr id="19" name="Shape 17"/>
          <p:cNvSpPr/>
          <p:nvPr/>
        </p:nvSpPr>
        <p:spPr>
          <a:xfrm>
            <a:off x="7991856" y="1371600"/>
            <a:ext cx="3447288" cy="822960"/>
          </a:xfrm>
          <a:prstGeom prst="rect">
            <a:avLst/>
          </a:prstGeom>
          <a:solidFill>
            <a:srgbClr val="006747"/>
          </a:solidFill>
          <a:ln/>
        </p:spPr>
      </p:sp>
      <p:sp>
        <p:nvSpPr>
          <p:cNvPr id="20" name="Text 18"/>
          <p:cNvSpPr/>
          <p:nvPr/>
        </p:nvSpPr>
        <p:spPr>
          <a:xfrm>
            <a:off x="8266176" y="1463040"/>
            <a:ext cx="2898648" cy="594360"/>
          </a:xfrm>
          <a:prstGeom prst="rect">
            <a:avLst/>
          </a:prstGeom>
          <a:noFill/>
          <a:ln/>
        </p:spPr>
        <p:txBody>
          <a:bodyPr wrap="square" rtlCol="0" anchor="ctr"/>
          <a:lstStyle/>
          <a:p>
            <a:pPr marL="0" indent="0">
              <a:buNone/>
            </a:pPr>
            <a:r>
              <a:rPr lang="en-US" sz="2800" b="1" dirty="0">
                <a:solidFill>
                  <a:srgbClr val="F59E0B"/>
                </a:solidFill>
              </a:rPr>
              <a:t>03</a:t>
            </a:r>
            <a:endParaRPr lang="en-US" sz="2800" dirty="0"/>
          </a:p>
        </p:txBody>
      </p:sp>
      <p:sp>
        <p:nvSpPr>
          <p:cNvPr id="21" name="Text 19"/>
          <p:cNvSpPr/>
          <p:nvPr/>
        </p:nvSpPr>
        <p:spPr>
          <a:xfrm>
            <a:off x="8266176" y="2423160"/>
            <a:ext cx="2898648" cy="548640"/>
          </a:xfrm>
          <a:prstGeom prst="rect">
            <a:avLst/>
          </a:prstGeom>
          <a:noFill/>
          <a:ln/>
        </p:spPr>
        <p:txBody>
          <a:bodyPr wrap="square" rtlCol="0" anchor="ctr"/>
          <a:lstStyle/>
          <a:p>
            <a:pPr marL="0" indent="0">
              <a:buNone/>
            </a:pPr>
            <a:r>
              <a:rPr lang="en-US" sz="1400" b="1" dirty="0">
                <a:solidFill>
                  <a:srgbClr val="062C24"/>
                </a:solidFill>
              </a:rPr>
              <a:t>Tidak Ada Bukti Autentikasi Fisik</a:t>
            </a:r>
            <a:endParaRPr lang="en-US" sz="1400" dirty="0"/>
          </a:p>
        </p:txBody>
      </p:sp>
      <p:sp>
        <p:nvSpPr>
          <p:cNvPr id="22" name="Text 20"/>
          <p:cNvSpPr/>
          <p:nvPr/>
        </p:nvSpPr>
        <p:spPr>
          <a:xfrm>
            <a:off x="8266176" y="3063240"/>
            <a:ext cx="2898648" cy="2560320"/>
          </a:xfrm>
          <a:prstGeom prst="rect">
            <a:avLst/>
          </a:prstGeom>
          <a:noFill/>
          <a:ln/>
        </p:spPr>
        <p:txBody>
          <a:bodyPr wrap="square" rtlCol="0" anchor="ctr"/>
          <a:lstStyle/>
          <a:p>
            <a:pPr marL="0" indent="0">
              <a:lnSpc>
                <a:spcPts val="1800"/>
              </a:lnSpc>
              <a:buNone/>
            </a:pPr>
            <a:r>
              <a:rPr lang="en-US" sz="1100" dirty="0">
                <a:solidFill>
                  <a:srgbClr val="1E293B"/>
                </a:solidFill>
              </a:rPr>
              <a:t>Ketiadaan tanda tangan digital saat serah terima buku membuat verifikasi peminjam fisik sulit dibuktikan jika terjadi kehilangan koleksi.</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no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FITUR SISTEM</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Solusi &amp; Fitur Unggulan SIPUS DIGITAL</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5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sp>
        <p:nvSpPr>
          <p:cNvPr id="8" name="Shape 6"/>
          <p:cNvSpPr/>
          <p:nvPr/>
        </p:nvSpPr>
        <p:spPr>
          <a:xfrm>
            <a:off x="731520" y="1371600"/>
            <a:ext cx="5266944" cy="2194560"/>
          </a:xfrm>
          <a:prstGeom prst="roundRect">
            <a:avLst>
              <a:gd name="adj" fmla="val 4167"/>
            </a:avLst>
          </a:prstGeom>
          <a:solidFill>
            <a:srgbClr val="FFFFFF"/>
          </a:solidFill>
          <a:ln w="12700">
            <a:solidFill>
              <a:srgbClr val="E2E8F0"/>
            </a:solidFill>
            <a:prstDash val="solid"/>
          </a:ln>
        </p:spPr>
      </p:sp>
      <p:sp>
        <p:nvSpPr>
          <p:cNvPr id="9" name="Shape 7"/>
          <p:cNvSpPr/>
          <p:nvPr/>
        </p:nvSpPr>
        <p:spPr>
          <a:xfrm>
            <a:off x="731520" y="1371600"/>
            <a:ext cx="137160" cy="2194560"/>
          </a:xfrm>
          <a:prstGeom prst="rect">
            <a:avLst/>
          </a:prstGeom>
          <a:solidFill>
            <a:srgbClr val="006747"/>
          </a:solidFill>
          <a:ln/>
        </p:spPr>
      </p:sp>
      <p:sp>
        <p:nvSpPr>
          <p:cNvPr id="10" name="Text 8"/>
          <p:cNvSpPr/>
          <p:nvPr/>
        </p:nvSpPr>
        <p:spPr>
          <a:xfrm>
            <a:off x="1051560" y="1554480"/>
            <a:ext cx="4754880" cy="365760"/>
          </a:xfrm>
          <a:prstGeom prst="rect">
            <a:avLst/>
          </a:prstGeom>
          <a:noFill/>
          <a:ln/>
        </p:spPr>
        <p:txBody>
          <a:bodyPr wrap="square" rtlCol="0" anchor="ctr"/>
          <a:lstStyle/>
          <a:p>
            <a:pPr marL="0" indent="0">
              <a:buNone/>
            </a:pPr>
            <a:r>
              <a:rPr lang="en-US" sz="1400" b="1" dirty="0">
                <a:solidFill>
                  <a:srgbClr val="062C24"/>
                </a:solidFill>
              </a:rPr>
              <a:t>Form Peminjaman Terintegrasi</a:t>
            </a:r>
            <a:endParaRPr lang="en-US" sz="1400" dirty="0"/>
          </a:p>
        </p:txBody>
      </p:sp>
      <p:sp>
        <p:nvSpPr>
          <p:cNvPr id="11" name="Text 9"/>
          <p:cNvSpPr/>
          <p:nvPr/>
        </p:nvSpPr>
        <p:spPr>
          <a:xfrm>
            <a:off x="1051560" y="1965960"/>
            <a:ext cx="4754880" cy="1371600"/>
          </a:xfrm>
          <a:prstGeom prst="rect">
            <a:avLst/>
          </a:prstGeom>
          <a:noFill/>
          <a:ln/>
        </p:spPr>
        <p:txBody>
          <a:bodyPr wrap="square" rtlCol="0" anchor="ctr"/>
          <a:lstStyle/>
          <a:p>
            <a:pPr marL="0" indent="0">
              <a:lnSpc>
                <a:spcPts val="1800"/>
              </a:lnSpc>
              <a:buNone/>
            </a:pPr>
            <a:r>
              <a:rPr lang="en-US" sz="1100" dirty="0">
                <a:solidFill>
                  <a:srgbClr val="1E293B"/>
                </a:solidFill>
              </a:rPr>
              <a:t>Validasi input lengkap (Nama, Kategori, Judul, Durasi) dengan peringatan visual dan auto-reset form setelah transaksi berhasil disimpan.</a:t>
            </a:r>
            <a:endParaRPr lang="en-US" sz="1100" dirty="0"/>
          </a:p>
        </p:txBody>
      </p:sp>
      <p:sp>
        <p:nvSpPr>
          <p:cNvPr id="12" name="Shape 10"/>
          <p:cNvSpPr/>
          <p:nvPr/>
        </p:nvSpPr>
        <p:spPr>
          <a:xfrm>
            <a:off x="6181344" y="1371600"/>
            <a:ext cx="5266944" cy="2194560"/>
          </a:xfrm>
          <a:prstGeom prst="roundRect">
            <a:avLst>
              <a:gd name="adj" fmla="val 4167"/>
            </a:avLst>
          </a:prstGeom>
          <a:solidFill>
            <a:srgbClr val="FFFFFF"/>
          </a:solidFill>
          <a:ln w="12700">
            <a:solidFill>
              <a:srgbClr val="E2E8F0"/>
            </a:solidFill>
            <a:prstDash val="solid"/>
          </a:ln>
        </p:spPr>
      </p:sp>
      <p:sp>
        <p:nvSpPr>
          <p:cNvPr id="13" name="Shape 11"/>
          <p:cNvSpPr/>
          <p:nvPr/>
        </p:nvSpPr>
        <p:spPr>
          <a:xfrm>
            <a:off x="6181344" y="1371600"/>
            <a:ext cx="137160" cy="2194560"/>
          </a:xfrm>
          <a:prstGeom prst="rect">
            <a:avLst/>
          </a:prstGeom>
          <a:solidFill>
            <a:srgbClr val="006747"/>
          </a:solidFill>
          <a:ln/>
        </p:spPr>
      </p:sp>
      <p:sp>
        <p:nvSpPr>
          <p:cNvPr id="14" name="Text 12"/>
          <p:cNvSpPr/>
          <p:nvPr/>
        </p:nvSpPr>
        <p:spPr>
          <a:xfrm>
            <a:off x="6501384" y="1554480"/>
            <a:ext cx="4754880" cy="365760"/>
          </a:xfrm>
          <a:prstGeom prst="rect">
            <a:avLst/>
          </a:prstGeom>
          <a:noFill/>
          <a:ln/>
        </p:spPr>
        <p:txBody>
          <a:bodyPr wrap="square" rtlCol="0" anchor="ctr"/>
          <a:lstStyle/>
          <a:p>
            <a:pPr marL="0" indent="0">
              <a:buNone/>
            </a:pPr>
            <a:r>
              <a:rPr lang="en-US" sz="1400" b="1" dirty="0">
                <a:solidFill>
                  <a:srgbClr val="062C24"/>
                </a:solidFill>
              </a:rPr>
              <a:t>Kalkulasi Denda Otomatis</a:t>
            </a:r>
            <a:endParaRPr lang="en-US" sz="1400" dirty="0"/>
          </a:p>
        </p:txBody>
      </p:sp>
      <p:sp>
        <p:nvSpPr>
          <p:cNvPr id="15" name="Text 13"/>
          <p:cNvSpPr/>
          <p:nvPr/>
        </p:nvSpPr>
        <p:spPr>
          <a:xfrm>
            <a:off x="6501384" y="1965960"/>
            <a:ext cx="4754880" cy="1371600"/>
          </a:xfrm>
          <a:prstGeom prst="rect">
            <a:avLst/>
          </a:prstGeom>
          <a:noFill/>
          <a:ln/>
        </p:spPr>
        <p:txBody>
          <a:bodyPr wrap="square" rtlCol="0" anchor="ctr"/>
          <a:lstStyle/>
          <a:p>
            <a:pPr marL="0" indent="0">
              <a:lnSpc>
                <a:spcPts val="1800"/>
              </a:lnSpc>
              <a:buNone/>
            </a:pPr>
            <a:r>
              <a:rPr lang="en-US" sz="1100" dirty="0">
                <a:solidFill>
                  <a:srgbClr val="1E293B"/>
                </a:solidFill>
              </a:rPr>
              <a:t>Sistem menghitung otomatis status Tepat Waktu atau Terlambat serta nominal denda (Rp 2.000/hari) berformat mata uang Rupiah standar.</a:t>
            </a:r>
            <a:endParaRPr lang="en-US" sz="1100" dirty="0"/>
          </a:p>
        </p:txBody>
      </p:sp>
      <p:sp>
        <p:nvSpPr>
          <p:cNvPr id="16" name="Shape 14"/>
          <p:cNvSpPr/>
          <p:nvPr/>
        </p:nvSpPr>
        <p:spPr>
          <a:xfrm>
            <a:off x="731520" y="3749040"/>
            <a:ext cx="5266944" cy="2194560"/>
          </a:xfrm>
          <a:prstGeom prst="roundRect">
            <a:avLst>
              <a:gd name="adj" fmla="val 4167"/>
            </a:avLst>
          </a:prstGeom>
          <a:solidFill>
            <a:srgbClr val="FFFFFF"/>
          </a:solidFill>
          <a:ln w="12700">
            <a:solidFill>
              <a:srgbClr val="E2E8F0"/>
            </a:solidFill>
            <a:prstDash val="solid"/>
          </a:ln>
        </p:spPr>
      </p:sp>
      <p:sp>
        <p:nvSpPr>
          <p:cNvPr id="17" name="Shape 15"/>
          <p:cNvSpPr/>
          <p:nvPr/>
        </p:nvSpPr>
        <p:spPr>
          <a:xfrm>
            <a:off x="731520" y="3749040"/>
            <a:ext cx="137160" cy="2194560"/>
          </a:xfrm>
          <a:prstGeom prst="rect">
            <a:avLst/>
          </a:prstGeom>
          <a:solidFill>
            <a:srgbClr val="006747"/>
          </a:solidFill>
          <a:ln/>
        </p:spPr>
      </p:sp>
      <p:sp>
        <p:nvSpPr>
          <p:cNvPr id="18" name="Text 16"/>
          <p:cNvSpPr/>
          <p:nvPr/>
        </p:nvSpPr>
        <p:spPr>
          <a:xfrm>
            <a:off x="1051560" y="3931920"/>
            <a:ext cx="4754880" cy="365760"/>
          </a:xfrm>
          <a:prstGeom prst="rect">
            <a:avLst/>
          </a:prstGeom>
          <a:noFill/>
          <a:ln/>
        </p:spPr>
        <p:txBody>
          <a:bodyPr wrap="square" rtlCol="0" anchor="ctr"/>
          <a:lstStyle/>
          <a:p>
            <a:pPr marL="0" indent="0">
              <a:buNone/>
            </a:pPr>
            <a:r>
              <a:rPr lang="en-US" sz="1400" b="1" dirty="0">
                <a:solidFill>
                  <a:srgbClr val="062C24"/>
                </a:solidFill>
              </a:rPr>
              <a:t>Fitur Paraf Digital (Canvas 2D)</a:t>
            </a:r>
            <a:endParaRPr lang="en-US" sz="1400" dirty="0"/>
          </a:p>
        </p:txBody>
      </p:sp>
      <p:sp>
        <p:nvSpPr>
          <p:cNvPr id="19" name="Text 17"/>
          <p:cNvSpPr/>
          <p:nvPr/>
        </p:nvSpPr>
        <p:spPr>
          <a:xfrm>
            <a:off x="1051560" y="4343400"/>
            <a:ext cx="4754880" cy="1371600"/>
          </a:xfrm>
          <a:prstGeom prst="rect">
            <a:avLst/>
          </a:prstGeom>
          <a:noFill/>
          <a:ln/>
        </p:spPr>
        <p:txBody>
          <a:bodyPr wrap="square" rtlCol="0" anchor="ctr"/>
          <a:lstStyle/>
          <a:p>
            <a:pPr marL="0" indent="0">
              <a:lnSpc>
                <a:spcPts val="1800"/>
              </a:lnSpc>
              <a:buNone/>
            </a:pPr>
            <a:r>
              <a:rPr lang="en-US" sz="1100" dirty="0">
                <a:solidFill>
                  <a:srgbClr val="1E293B"/>
                </a:solidFill>
              </a:rPr>
              <a:t>Bukti goresan paraf digital interaktif dengan dukungan mouse &amp; touchscreen ponsel, tombol Bersihkan Canvas, dan Unduh Paraf PNG.</a:t>
            </a:r>
            <a:endParaRPr lang="en-US" sz="1100" dirty="0"/>
          </a:p>
        </p:txBody>
      </p:sp>
      <p:sp>
        <p:nvSpPr>
          <p:cNvPr id="20" name="Shape 18"/>
          <p:cNvSpPr/>
          <p:nvPr/>
        </p:nvSpPr>
        <p:spPr>
          <a:xfrm>
            <a:off x="6181344" y="3749040"/>
            <a:ext cx="5266944" cy="2194560"/>
          </a:xfrm>
          <a:prstGeom prst="roundRect">
            <a:avLst>
              <a:gd name="adj" fmla="val 4167"/>
            </a:avLst>
          </a:prstGeom>
          <a:solidFill>
            <a:srgbClr val="FFFFFF"/>
          </a:solidFill>
          <a:ln w="12700">
            <a:solidFill>
              <a:srgbClr val="E2E8F0"/>
            </a:solidFill>
            <a:prstDash val="solid"/>
          </a:ln>
        </p:spPr>
      </p:sp>
      <p:sp>
        <p:nvSpPr>
          <p:cNvPr id="21" name="Shape 19"/>
          <p:cNvSpPr/>
          <p:nvPr/>
        </p:nvSpPr>
        <p:spPr>
          <a:xfrm>
            <a:off x="6181344" y="3749040"/>
            <a:ext cx="137160" cy="2194560"/>
          </a:xfrm>
          <a:prstGeom prst="rect">
            <a:avLst/>
          </a:prstGeom>
          <a:solidFill>
            <a:srgbClr val="006747"/>
          </a:solidFill>
          <a:ln/>
        </p:spPr>
      </p:sp>
      <p:sp>
        <p:nvSpPr>
          <p:cNvPr id="22" name="Text 20"/>
          <p:cNvSpPr/>
          <p:nvPr/>
        </p:nvSpPr>
        <p:spPr>
          <a:xfrm>
            <a:off x="6501384" y="3931920"/>
            <a:ext cx="4754880" cy="365760"/>
          </a:xfrm>
          <a:prstGeom prst="rect">
            <a:avLst/>
          </a:prstGeom>
          <a:noFill/>
          <a:ln/>
        </p:spPr>
        <p:txBody>
          <a:bodyPr wrap="square" rtlCol="0" anchor="ctr"/>
          <a:lstStyle/>
          <a:p>
            <a:pPr marL="0" indent="0">
              <a:buNone/>
            </a:pPr>
            <a:r>
              <a:rPr lang="en-US" sz="1400" b="1" dirty="0">
                <a:solidFill>
                  <a:srgbClr val="062C24"/>
                </a:solidFill>
              </a:rPr>
              <a:t>Pusat Multimedia Terpadu</a:t>
            </a:r>
            <a:endParaRPr lang="en-US" sz="1400" dirty="0"/>
          </a:p>
        </p:txBody>
      </p:sp>
      <p:sp>
        <p:nvSpPr>
          <p:cNvPr id="23" name="Text 21"/>
          <p:cNvSpPr/>
          <p:nvPr/>
        </p:nvSpPr>
        <p:spPr>
          <a:xfrm>
            <a:off x="6501384" y="4343400"/>
            <a:ext cx="4754880" cy="1371600"/>
          </a:xfrm>
          <a:prstGeom prst="rect">
            <a:avLst/>
          </a:prstGeom>
          <a:noFill/>
          <a:ln/>
        </p:spPr>
        <p:txBody>
          <a:bodyPr wrap="square" rtlCol="0" anchor="ctr"/>
          <a:lstStyle/>
          <a:p>
            <a:pPr marL="0" indent="0">
              <a:lnSpc>
                <a:spcPts val="1800"/>
              </a:lnSpc>
              <a:buNone/>
            </a:pPr>
            <a:r>
              <a:rPr lang="en-US" sz="1100" dirty="0">
                <a:solidFill>
                  <a:srgbClr val="1E293B"/>
                </a:solidFill>
              </a:rPr>
              <a:t>Pemutar video profil perpustakaan lokal resolusi tinggi dan tombol audio bel sirkulasi pengumuman jam layanan.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no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ARSITEKTUR KODE</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Struktur Proyek &amp; File Modular</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6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sp>
        <p:nvSpPr>
          <p:cNvPr id="8" name="Shape 6"/>
          <p:cNvSpPr/>
          <p:nvPr/>
        </p:nvSpPr>
        <p:spPr>
          <a:xfrm>
            <a:off x="731520" y="1371600"/>
            <a:ext cx="5266944" cy="1389888"/>
          </a:xfrm>
          <a:prstGeom prst="roundRect">
            <a:avLst>
              <a:gd name="adj" fmla="val 6579"/>
            </a:avLst>
          </a:prstGeom>
          <a:solidFill>
            <a:srgbClr val="FFFFFF"/>
          </a:solidFill>
          <a:ln w="12700">
            <a:solidFill>
              <a:srgbClr val="E2E8F0"/>
            </a:solidFill>
            <a:prstDash val="solid"/>
          </a:ln>
        </p:spPr>
      </p:sp>
      <p:sp>
        <p:nvSpPr>
          <p:cNvPr id="9" name="Shape 7"/>
          <p:cNvSpPr/>
          <p:nvPr/>
        </p:nvSpPr>
        <p:spPr>
          <a:xfrm>
            <a:off x="731520" y="1371600"/>
            <a:ext cx="137160" cy="1389888"/>
          </a:xfrm>
          <a:prstGeom prst="rect">
            <a:avLst/>
          </a:prstGeom>
          <a:solidFill>
            <a:srgbClr val="062C24"/>
          </a:solidFill>
          <a:ln/>
        </p:spPr>
      </p:sp>
      <p:sp>
        <p:nvSpPr>
          <p:cNvPr id="10" name="Text 8"/>
          <p:cNvSpPr/>
          <p:nvPr/>
        </p:nvSpPr>
        <p:spPr>
          <a:xfrm>
            <a:off x="1005840" y="1508760"/>
            <a:ext cx="2926080" cy="320040"/>
          </a:xfrm>
          <a:prstGeom prst="rect">
            <a:avLst/>
          </a:prstGeom>
          <a:noFill/>
          <a:ln/>
        </p:spPr>
        <p:txBody>
          <a:bodyPr wrap="square" rtlCol="0" anchor="ctr"/>
          <a:lstStyle/>
          <a:p>
            <a:pPr marL="0" indent="0">
              <a:buNone/>
            </a:pPr>
            <a:r>
              <a:rPr lang="en-US" sz="1300" b="1" dirty="0">
                <a:solidFill>
                  <a:srgbClr val="006747"/>
                </a:solidFill>
              </a:rPr>
              <a:t>index.html</a:t>
            </a:r>
            <a:endParaRPr lang="en-US" sz="1300" dirty="0"/>
          </a:p>
        </p:txBody>
      </p:sp>
      <p:sp>
        <p:nvSpPr>
          <p:cNvPr id="11" name="Text 9"/>
          <p:cNvSpPr/>
          <p:nvPr/>
        </p:nvSpPr>
        <p:spPr>
          <a:xfrm>
            <a:off x="3931920" y="1508760"/>
            <a:ext cx="1920240" cy="320040"/>
          </a:xfrm>
          <a:prstGeom prst="rect">
            <a:avLst/>
          </a:prstGeom>
          <a:noFill/>
          <a:ln/>
        </p:spPr>
        <p:txBody>
          <a:bodyPr wrap="square" rtlCol="0" anchor="ctr"/>
          <a:lstStyle/>
          <a:p>
            <a:pPr marL="0" indent="0" algn="r">
              <a:buNone/>
            </a:pPr>
            <a:r>
              <a:rPr lang="en-US" sz="950" b="1" dirty="0">
                <a:solidFill>
                  <a:srgbClr val="F59E0B"/>
                </a:solidFill>
              </a:rPr>
              <a:t>Struktur Semantik</a:t>
            </a:r>
            <a:endParaRPr lang="en-US" sz="950" dirty="0"/>
          </a:p>
        </p:txBody>
      </p:sp>
      <p:sp>
        <p:nvSpPr>
          <p:cNvPr id="12" name="Text 10"/>
          <p:cNvSpPr/>
          <p:nvPr/>
        </p:nvSpPr>
        <p:spPr>
          <a:xfrm>
            <a:off x="1005840" y="1847088"/>
            <a:ext cx="4846320" cy="822960"/>
          </a:xfrm>
          <a:prstGeom prst="rect">
            <a:avLst/>
          </a:prstGeom>
          <a:noFill/>
          <a:ln/>
        </p:spPr>
        <p:txBody>
          <a:bodyPr wrap="square" rtlCol="0" anchor="ctr"/>
          <a:lstStyle/>
          <a:p>
            <a:pPr marL="0" indent="0">
              <a:lnSpc>
                <a:spcPts val="1500"/>
              </a:lnSpc>
              <a:buNone/>
            </a:pPr>
            <a:r>
              <a:rPr lang="en-US" sz="1000" dirty="0">
                <a:solidFill>
                  <a:srgbClr val="1E293B"/>
                </a:solidFill>
              </a:rPr>
              <a:t>Struktur semantik HTML5 (&lt;header&gt;, &lt;nav&gt;, &lt;main&gt;, &lt;section&gt;, &lt;form&gt;, &lt;canvas&gt;, &lt;table&gt;, &lt;footer&gt;).</a:t>
            </a:r>
            <a:endParaRPr lang="en-US" sz="1000" dirty="0"/>
          </a:p>
        </p:txBody>
      </p:sp>
      <p:sp>
        <p:nvSpPr>
          <p:cNvPr id="13" name="Shape 11"/>
          <p:cNvSpPr/>
          <p:nvPr/>
        </p:nvSpPr>
        <p:spPr>
          <a:xfrm>
            <a:off x="6181344" y="1371600"/>
            <a:ext cx="5266944" cy="1389888"/>
          </a:xfrm>
          <a:prstGeom prst="roundRect">
            <a:avLst>
              <a:gd name="adj" fmla="val 6579"/>
            </a:avLst>
          </a:prstGeom>
          <a:solidFill>
            <a:srgbClr val="FFFFFF"/>
          </a:solidFill>
          <a:ln w="12700">
            <a:solidFill>
              <a:srgbClr val="E2E8F0"/>
            </a:solidFill>
            <a:prstDash val="solid"/>
          </a:ln>
        </p:spPr>
      </p:sp>
      <p:sp>
        <p:nvSpPr>
          <p:cNvPr id="14" name="Shape 12"/>
          <p:cNvSpPr/>
          <p:nvPr/>
        </p:nvSpPr>
        <p:spPr>
          <a:xfrm>
            <a:off x="6181344" y="1371600"/>
            <a:ext cx="137160" cy="1389888"/>
          </a:xfrm>
          <a:prstGeom prst="rect">
            <a:avLst/>
          </a:prstGeom>
          <a:solidFill>
            <a:srgbClr val="062C24"/>
          </a:solidFill>
          <a:ln/>
        </p:spPr>
      </p:sp>
      <p:sp>
        <p:nvSpPr>
          <p:cNvPr id="15" name="Text 13"/>
          <p:cNvSpPr/>
          <p:nvPr/>
        </p:nvSpPr>
        <p:spPr>
          <a:xfrm>
            <a:off x="6455664" y="1508760"/>
            <a:ext cx="2926080" cy="320040"/>
          </a:xfrm>
          <a:prstGeom prst="rect">
            <a:avLst/>
          </a:prstGeom>
          <a:noFill/>
          <a:ln/>
        </p:spPr>
        <p:txBody>
          <a:bodyPr wrap="square" rtlCol="0" anchor="ctr"/>
          <a:lstStyle/>
          <a:p>
            <a:pPr marL="0" indent="0">
              <a:buNone/>
            </a:pPr>
            <a:r>
              <a:rPr lang="en-US" sz="1300" b="1" dirty="0">
                <a:solidFill>
                  <a:srgbClr val="006747"/>
                </a:solidFill>
              </a:rPr>
              <a:t>css/style.css</a:t>
            </a:r>
            <a:endParaRPr lang="en-US" sz="1300" dirty="0"/>
          </a:p>
        </p:txBody>
      </p:sp>
      <p:sp>
        <p:nvSpPr>
          <p:cNvPr id="16" name="Text 14"/>
          <p:cNvSpPr/>
          <p:nvPr/>
        </p:nvSpPr>
        <p:spPr>
          <a:xfrm>
            <a:off x="9381744" y="1508760"/>
            <a:ext cx="1920240" cy="320040"/>
          </a:xfrm>
          <a:prstGeom prst="rect">
            <a:avLst/>
          </a:prstGeom>
          <a:noFill/>
          <a:ln/>
        </p:spPr>
        <p:txBody>
          <a:bodyPr wrap="square" rtlCol="0" anchor="ctr"/>
          <a:lstStyle/>
          <a:p>
            <a:pPr marL="0" indent="0" algn="r">
              <a:buNone/>
            </a:pPr>
            <a:r>
              <a:rPr lang="en-US" sz="950" b="1" dirty="0">
                <a:solidFill>
                  <a:srgbClr val="F59E0B"/>
                </a:solidFill>
              </a:rPr>
              <a:t>Tata Letak &amp; Responsif</a:t>
            </a:r>
            <a:endParaRPr lang="en-US" sz="950" dirty="0"/>
          </a:p>
        </p:txBody>
      </p:sp>
      <p:sp>
        <p:nvSpPr>
          <p:cNvPr id="17" name="Text 15"/>
          <p:cNvSpPr/>
          <p:nvPr/>
        </p:nvSpPr>
        <p:spPr>
          <a:xfrm>
            <a:off x="6455664" y="1847088"/>
            <a:ext cx="4846320" cy="822960"/>
          </a:xfrm>
          <a:prstGeom prst="rect">
            <a:avLst/>
          </a:prstGeom>
          <a:noFill/>
          <a:ln/>
        </p:spPr>
        <p:txBody>
          <a:bodyPr wrap="square" rtlCol="0" anchor="ctr"/>
          <a:lstStyle/>
          <a:p>
            <a:pPr marL="0" indent="0">
              <a:lnSpc>
                <a:spcPts val="1500"/>
              </a:lnSpc>
              <a:buNone/>
            </a:pPr>
            <a:r>
              <a:rPr lang="en-US" sz="1000" dirty="0">
                <a:solidFill>
                  <a:srgbClr val="1E293B"/>
                </a:solidFill>
              </a:rPr>
              <a:t>Desain antarmuka, CSS custom variables (:root), responsive Flexbox &amp; CSS Grid, serta breakpoints media queries.</a:t>
            </a:r>
            <a:endParaRPr lang="en-US" sz="1000" dirty="0"/>
          </a:p>
        </p:txBody>
      </p:sp>
      <p:sp>
        <p:nvSpPr>
          <p:cNvPr id="18" name="Shape 16"/>
          <p:cNvSpPr/>
          <p:nvPr/>
        </p:nvSpPr>
        <p:spPr>
          <a:xfrm>
            <a:off x="731520" y="2944368"/>
            <a:ext cx="5266944" cy="1389888"/>
          </a:xfrm>
          <a:prstGeom prst="roundRect">
            <a:avLst>
              <a:gd name="adj" fmla="val 6579"/>
            </a:avLst>
          </a:prstGeom>
          <a:solidFill>
            <a:srgbClr val="FFFFFF"/>
          </a:solidFill>
          <a:ln w="12700">
            <a:solidFill>
              <a:srgbClr val="E2E8F0"/>
            </a:solidFill>
            <a:prstDash val="solid"/>
          </a:ln>
        </p:spPr>
      </p:sp>
      <p:sp>
        <p:nvSpPr>
          <p:cNvPr id="19" name="Shape 17"/>
          <p:cNvSpPr/>
          <p:nvPr/>
        </p:nvSpPr>
        <p:spPr>
          <a:xfrm>
            <a:off x="731520" y="2944368"/>
            <a:ext cx="137160" cy="1389888"/>
          </a:xfrm>
          <a:prstGeom prst="rect">
            <a:avLst/>
          </a:prstGeom>
          <a:solidFill>
            <a:srgbClr val="062C24"/>
          </a:solidFill>
          <a:ln/>
        </p:spPr>
      </p:sp>
      <p:sp>
        <p:nvSpPr>
          <p:cNvPr id="20" name="Text 18"/>
          <p:cNvSpPr/>
          <p:nvPr/>
        </p:nvSpPr>
        <p:spPr>
          <a:xfrm>
            <a:off x="1005840" y="3081528"/>
            <a:ext cx="2926080" cy="320040"/>
          </a:xfrm>
          <a:prstGeom prst="rect">
            <a:avLst/>
          </a:prstGeom>
          <a:noFill/>
          <a:ln/>
        </p:spPr>
        <p:txBody>
          <a:bodyPr wrap="square" rtlCol="0" anchor="ctr"/>
          <a:lstStyle/>
          <a:p>
            <a:pPr marL="0" indent="0">
              <a:buNone/>
            </a:pPr>
            <a:r>
              <a:rPr lang="en-US" sz="1300" b="1" dirty="0">
                <a:solidFill>
                  <a:srgbClr val="006747"/>
                </a:solidFill>
              </a:rPr>
              <a:t>js/script.js</a:t>
            </a:r>
            <a:endParaRPr lang="en-US" sz="1300" dirty="0"/>
          </a:p>
        </p:txBody>
      </p:sp>
      <p:sp>
        <p:nvSpPr>
          <p:cNvPr id="21" name="Text 19"/>
          <p:cNvSpPr/>
          <p:nvPr/>
        </p:nvSpPr>
        <p:spPr>
          <a:xfrm>
            <a:off x="3931920" y="3081528"/>
            <a:ext cx="1920240" cy="320040"/>
          </a:xfrm>
          <a:prstGeom prst="rect">
            <a:avLst/>
          </a:prstGeom>
          <a:noFill/>
          <a:ln/>
        </p:spPr>
        <p:txBody>
          <a:bodyPr wrap="square" rtlCol="0" anchor="ctr"/>
          <a:lstStyle/>
          <a:p>
            <a:pPr marL="0" indent="0" algn="r">
              <a:buNone/>
            </a:pPr>
            <a:r>
              <a:rPr lang="en-US" sz="950" b="1" dirty="0">
                <a:solidFill>
                  <a:srgbClr val="F59E0B"/>
                </a:solidFill>
              </a:rPr>
              <a:t>Logika Terstruktur</a:t>
            </a:r>
            <a:endParaRPr lang="en-US" sz="950" dirty="0"/>
          </a:p>
        </p:txBody>
      </p:sp>
      <p:sp>
        <p:nvSpPr>
          <p:cNvPr id="22" name="Text 20"/>
          <p:cNvSpPr/>
          <p:nvPr/>
        </p:nvSpPr>
        <p:spPr>
          <a:xfrm>
            <a:off x="1005840" y="3419856"/>
            <a:ext cx="4846320" cy="822960"/>
          </a:xfrm>
          <a:prstGeom prst="rect">
            <a:avLst/>
          </a:prstGeom>
          <a:noFill/>
          <a:ln/>
        </p:spPr>
        <p:txBody>
          <a:bodyPr wrap="square" rtlCol="0" anchor="ctr"/>
          <a:lstStyle/>
          <a:p>
            <a:pPr marL="0" indent="0">
              <a:lnSpc>
                <a:spcPts val="1500"/>
              </a:lnSpc>
              <a:buNone/>
            </a:pPr>
            <a:r>
              <a:rPr lang="en-US" sz="1000" dirty="0">
                <a:solidFill>
                  <a:srgbClr val="1E293B"/>
                </a:solidFill>
              </a:rPr>
              <a:t>Logika pemrograman: state array, percabangan if-else, perulangan forEach, filter string, dan Canvas API 2D.</a:t>
            </a:r>
            <a:endParaRPr lang="en-US" sz="1000" dirty="0"/>
          </a:p>
        </p:txBody>
      </p:sp>
      <p:sp>
        <p:nvSpPr>
          <p:cNvPr id="23" name="Shape 21"/>
          <p:cNvSpPr/>
          <p:nvPr/>
        </p:nvSpPr>
        <p:spPr>
          <a:xfrm>
            <a:off x="6181344" y="2944368"/>
            <a:ext cx="5266944" cy="1389888"/>
          </a:xfrm>
          <a:prstGeom prst="roundRect">
            <a:avLst>
              <a:gd name="adj" fmla="val 6579"/>
            </a:avLst>
          </a:prstGeom>
          <a:solidFill>
            <a:srgbClr val="FFFFFF"/>
          </a:solidFill>
          <a:ln w="12700">
            <a:solidFill>
              <a:srgbClr val="E2E8F0"/>
            </a:solidFill>
            <a:prstDash val="solid"/>
          </a:ln>
        </p:spPr>
      </p:sp>
      <p:sp>
        <p:nvSpPr>
          <p:cNvPr id="24" name="Shape 22"/>
          <p:cNvSpPr/>
          <p:nvPr/>
        </p:nvSpPr>
        <p:spPr>
          <a:xfrm>
            <a:off x="6181344" y="2944368"/>
            <a:ext cx="137160" cy="1389888"/>
          </a:xfrm>
          <a:prstGeom prst="rect">
            <a:avLst/>
          </a:prstGeom>
          <a:solidFill>
            <a:srgbClr val="062C24"/>
          </a:solidFill>
          <a:ln/>
        </p:spPr>
      </p:sp>
      <p:sp>
        <p:nvSpPr>
          <p:cNvPr id="25" name="Text 23"/>
          <p:cNvSpPr/>
          <p:nvPr/>
        </p:nvSpPr>
        <p:spPr>
          <a:xfrm>
            <a:off x="6455664" y="3081528"/>
            <a:ext cx="2926080" cy="320040"/>
          </a:xfrm>
          <a:prstGeom prst="rect">
            <a:avLst/>
          </a:prstGeom>
          <a:noFill/>
          <a:ln/>
        </p:spPr>
        <p:txBody>
          <a:bodyPr wrap="square" rtlCol="0" anchor="ctr"/>
          <a:lstStyle/>
          <a:p>
            <a:pPr marL="0" indent="0">
              <a:buNone/>
            </a:pPr>
            <a:r>
              <a:rPr lang="en-US" sz="1300" b="1" dirty="0">
                <a:solidFill>
                  <a:srgbClr val="006747"/>
                </a:solidFill>
              </a:rPr>
              <a:t>assets/img/</a:t>
            </a:r>
            <a:endParaRPr lang="en-US" sz="1300" dirty="0"/>
          </a:p>
        </p:txBody>
      </p:sp>
      <p:sp>
        <p:nvSpPr>
          <p:cNvPr id="26" name="Text 24"/>
          <p:cNvSpPr/>
          <p:nvPr/>
        </p:nvSpPr>
        <p:spPr>
          <a:xfrm>
            <a:off x="9381744" y="3081528"/>
            <a:ext cx="1920240" cy="320040"/>
          </a:xfrm>
          <a:prstGeom prst="rect">
            <a:avLst/>
          </a:prstGeom>
          <a:noFill/>
          <a:ln/>
        </p:spPr>
        <p:txBody>
          <a:bodyPr wrap="square" rtlCol="0" anchor="ctr"/>
          <a:lstStyle/>
          <a:p>
            <a:pPr marL="0" indent="0" algn="r">
              <a:buNone/>
            </a:pPr>
            <a:r>
              <a:rPr lang="en-US" sz="950" b="1" dirty="0">
                <a:solidFill>
                  <a:srgbClr val="F59E0B"/>
                </a:solidFill>
              </a:rPr>
              <a:t>Gambar Banner</a:t>
            </a:r>
            <a:endParaRPr lang="en-US" sz="950" dirty="0"/>
          </a:p>
        </p:txBody>
      </p:sp>
      <p:sp>
        <p:nvSpPr>
          <p:cNvPr id="27" name="Text 25"/>
          <p:cNvSpPr/>
          <p:nvPr/>
        </p:nvSpPr>
        <p:spPr>
          <a:xfrm>
            <a:off x="6455664" y="3419856"/>
            <a:ext cx="4846320" cy="822960"/>
          </a:xfrm>
          <a:prstGeom prst="rect">
            <a:avLst/>
          </a:prstGeom>
          <a:noFill/>
          <a:ln/>
        </p:spPr>
        <p:txBody>
          <a:bodyPr wrap="square" rtlCol="0" anchor="ctr"/>
          <a:lstStyle/>
          <a:p>
            <a:pPr marL="0" indent="0">
              <a:lnSpc>
                <a:spcPts val="1500"/>
              </a:lnSpc>
              <a:buNone/>
            </a:pPr>
            <a:r>
              <a:rPr lang="en-US" sz="1000" dirty="0">
                <a:solidFill>
                  <a:srgbClr val="1E293B"/>
                </a:solidFill>
              </a:rPr>
              <a:t>Aset visual banner perpustakaan beresolusi tinggi rasio 16:9 yang telah dioptimasi ukuran berkasnya.</a:t>
            </a:r>
            <a:endParaRPr lang="en-US" sz="1000" dirty="0"/>
          </a:p>
        </p:txBody>
      </p:sp>
      <p:sp>
        <p:nvSpPr>
          <p:cNvPr id="28" name="Shape 26"/>
          <p:cNvSpPr/>
          <p:nvPr/>
        </p:nvSpPr>
        <p:spPr>
          <a:xfrm>
            <a:off x="731520" y="4517136"/>
            <a:ext cx="5266944" cy="1389888"/>
          </a:xfrm>
          <a:prstGeom prst="roundRect">
            <a:avLst>
              <a:gd name="adj" fmla="val 6579"/>
            </a:avLst>
          </a:prstGeom>
          <a:solidFill>
            <a:srgbClr val="FFFFFF"/>
          </a:solidFill>
          <a:ln w="12700">
            <a:solidFill>
              <a:srgbClr val="E2E8F0"/>
            </a:solidFill>
            <a:prstDash val="solid"/>
          </a:ln>
        </p:spPr>
      </p:sp>
      <p:sp>
        <p:nvSpPr>
          <p:cNvPr id="29" name="Shape 27"/>
          <p:cNvSpPr/>
          <p:nvPr/>
        </p:nvSpPr>
        <p:spPr>
          <a:xfrm>
            <a:off x="731520" y="4517136"/>
            <a:ext cx="137160" cy="1389888"/>
          </a:xfrm>
          <a:prstGeom prst="rect">
            <a:avLst/>
          </a:prstGeom>
          <a:solidFill>
            <a:srgbClr val="062C24"/>
          </a:solidFill>
          <a:ln/>
        </p:spPr>
      </p:sp>
      <p:sp>
        <p:nvSpPr>
          <p:cNvPr id="30" name="Text 28"/>
          <p:cNvSpPr/>
          <p:nvPr/>
        </p:nvSpPr>
        <p:spPr>
          <a:xfrm>
            <a:off x="1005840" y="4654296"/>
            <a:ext cx="2926080" cy="320040"/>
          </a:xfrm>
          <a:prstGeom prst="rect">
            <a:avLst/>
          </a:prstGeom>
          <a:noFill/>
          <a:ln/>
        </p:spPr>
        <p:txBody>
          <a:bodyPr wrap="square" rtlCol="0" anchor="ctr"/>
          <a:lstStyle/>
          <a:p>
            <a:pPr marL="0" indent="0">
              <a:buNone/>
            </a:pPr>
            <a:r>
              <a:rPr lang="en-US" sz="1300" b="1" dirty="0">
                <a:solidFill>
                  <a:srgbClr val="006747"/>
                </a:solidFill>
              </a:rPr>
              <a:t>assets/video/</a:t>
            </a:r>
            <a:endParaRPr lang="en-US" sz="1300" dirty="0"/>
          </a:p>
        </p:txBody>
      </p:sp>
      <p:sp>
        <p:nvSpPr>
          <p:cNvPr id="31" name="Text 29"/>
          <p:cNvSpPr/>
          <p:nvPr/>
        </p:nvSpPr>
        <p:spPr>
          <a:xfrm>
            <a:off x="3931920" y="4654296"/>
            <a:ext cx="1920240" cy="320040"/>
          </a:xfrm>
          <a:prstGeom prst="rect">
            <a:avLst/>
          </a:prstGeom>
          <a:noFill/>
          <a:ln/>
        </p:spPr>
        <p:txBody>
          <a:bodyPr wrap="square" rtlCol="0" anchor="ctr"/>
          <a:lstStyle/>
          <a:p>
            <a:pPr marL="0" indent="0" algn="r">
              <a:buNone/>
            </a:pPr>
            <a:r>
              <a:rPr lang="en-US" sz="950" b="1" dirty="0">
                <a:solidFill>
                  <a:srgbClr val="F59E0B"/>
                </a:solidFill>
              </a:rPr>
              <a:t>Media Video Lokal</a:t>
            </a:r>
            <a:endParaRPr lang="en-US" sz="950" dirty="0"/>
          </a:p>
        </p:txBody>
      </p:sp>
      <p:sp>
        <p:nvSpPr>
          <p:cNvPr id="32" name="Text 30"/>
          <p:cNvSpPr/>
          <p:nvPr/>
        </p:nvSpPr>
        <p:spPr>
          <a:xfrm>
            <a:off x="1005840" y="4992624"/>
            <a:ext cx="4846320" cy="822960"/>
          </a:xfrm>
          <a:prstGeom prst="rect">
            <a:avLst/>
          </a:prstGeom>
          <a:noFill/>
          <a:ln/>
        </p:spPr>
        <p:txBody>
          <a:bodyPr wrap="square" rtlCol="0" anchor="ctr"/>
          <a:lstStyle/>
          <a:p>
            <a:pPr marL="0" indent="0">
              <a:lnSpc>
                <a:spcPts val="1500"/>
              </a:lnSpc>
              <a:buNone/>
            </a:pPr>
            <a:r>
              <a:rPr lang="en-US" sz="1000" dirty="0">
                <a:solidFill>
                  <a:srgbClr val="1E293B"/>
                </a:solidFill>
              </a:rPr>
              <a:t>Video profil layanan sirkulasi format WebM yang dapat diputar secara lancar tanpa dependensi internet.</a:t>
            </a:r>
            <a:endParaRPr lang="en-US" sz="1000" dirty="0"/>
          </a:p>
        </p:txBody>
      </p:sp>
      <p:sp>
        <p:nvSpPr>
          <p:cNvPr id="33" name="Shape 31"/>
          <p:cNvSpPr/>
          <p:nvPr/>
        </p:nvSpPr>
        <p:spPr>
          <a:xfrm>
            <a:off x="6181344" y="4517136"/>
            <a:ext cx="5266944" cy="1389888"/>
          </a:xfrm>
          <a:prstGeom prst="roundRect">
            <a:avLst>
              <a:gd name="adj" fmla="val 6579"/>
            </a:avLst>
          </a:prstGeom>
          <a:solidFill>
            <a:srgbClr val="FFFFFF"/>
          </a:solidFill>
          <a:ln w="12700">
            <a:solidFill>
              <a:srgbClr val="E2E8F0"/>
            </a:solidFill>
            <a:prstDash val="solid"/>
          </a:ln>
        </p:spPr>
      </p:sp>
      <p:sp>
        <p:nvSpPr>
          <p:cNvPr id="34" name="Shape 32"/>
          <p:cNvSpPr/>
          <p:nvPr/>
        </p:nvSpPr>
        <p:spPr>
          <a:xfrm>
            <a:off x="6181344" y="4517136"/>
            <a:ext cx="137160" cy="1389888"/>
          </a:xfrm>
          <a:prstGeom prst="rect">
            <a:avLst/>
          </a:prstGeom>
          <a:solidFill>
            <a:srgbClr val="062C24"/>
          </a:solidFill>
          <a:ln/>
        </p:spPr>
      </p:sp>
      <p:sp>
        <p:nvSpPr>
          <p:cNvPr id="35" name="Text 33"/>
          <p:cNvSpPr/>
          <p:nvPr/>
        </p:nvSpPr>
        <p:spPr>
          <a:xfrm>
            <a:off x="6455664" y="4654296"/>
            <a:ext cx="2926080" cy="320040"/>
          </a:xfrm>
          <a:prstGeom prst="rect">
            <a:avLst/>
          </a:prstGeom>
          <a:noFill/>
          <a:ln/>
        </p:spPr>
        <p:txBody>
          <a:bodyPr wrap="square" rtlCol="0" anchor="ctr"/>
          <a:lstStyle/>
          <a:p>
            <a:pPr marL="0" indent="0">
              <a:buNone/>
            </a:pPr>
            <a:r>
              <a:rPr lang="en-US" sz="1300" b="1" dirty="0">
                <a:solidFill>
                  <a:srgbClr val="006747"/>
                </a:solidFill>
              </a:rPr>
              <a:t>assets/audio/</a:t>
            </a:r>
            <a:endParaRPr lang="en-US" sz="1300" dirty="0"/>
          </a:p>
        </p:txBody>
      </p:sp>
      <p:sp>
        <p:nvSpPr>
          <p:cNvPr id="36" name="Text 34"/>
          <p:cNvSpPr/>
          <p:nvPr/>
        </p:nvSpPr>
        <p:spPr>
          <a:xfrm>
            <a:off x="9381744" y="4654296"/>
            <a:ext cx="1920240" cy="320040"/>
          </a:xfrm>
          <a:prstGeom prst="rect">
            <a:avLst/>
          </a:prstGeom>
          <a:noFill/>
          <a:ln/>
        </p:spPr>
        <p:txBody>
          <a:bodyPr wrap="square" rtlCol="0" anchor="ctr"/>
          <a:lstStyle/>
          <a:p>
            <a:pPr marL="0" indent="0" algn="r">
              <a:buNone/>
            </a:pPr>
            <a:r>
              <a:rPr lang="en-US" sz="950" b="1" dirty="0">
                <a:solidFill>
                  <a:srgbClr val="F59E0B"/>
                </a:solidFill>
              </a:rPr>
              <a:t>Media Audio Lokal</a:t>
            </a:r>
            <a:endParaRPr lang="en-US" sz="950" dirty="0"/>
          </a:p>
        </p:txBody>
      </p:sp>
      <p:sp>
        <p:nvSpPr>
          <p:cNvPr id="37" name="Text 35"/>
          <p:cNvSpPr/>
          <p:nvPr/>
        </p:nvSpPr>
        <p:spPr>
          <a:xfrm>
            <a:off x="6455664" y="4992624"/>
            <a:ext cx="4846320" cy="822960"/>
          </a:xfrm>
          <a:prstGeom prst="rect">
            <a:avLst/>
          </a:prstGeom>
          <a:noFill/>
          <a:ln/>
        </p:spPr>
        <p:txBody>
          <a:bodyPr wrap="square" rtlCol="0" anchor="ctr"/>
          <a:lstStyle/>
          <a:p>
            <a:pPr marL="0" indent="0">
              <a:lnSpc>
                <a:spcPts val="1500"/>
              </a:lnSpc>
              <a:buNone/>
            </a:pPr>
            <a:r>
              <a:rPr lang="en-US" sz="1000" dirty="0">
                <a:solidFill>
                  <a:srgbClr val="1E293B"/>
                </a:solidFill>
              </a:rPr>
              <a:t>Audio bel sirkulasi format WAV untuk simulasi lonceng jam layanan perpustakaan digital.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no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LOGIKA PEMROGRAMAN</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Alur Sekuensial &amp; Percabangan Aturan Denda</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7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sp>
        <p:nvSpPr>
          <p:cNvPr id="8" name="Shape 6"/>
          <p:cNvSpPr/>
          <p:nvPr/>
        </p:nvSpPr>
        <p:spPr>
          <a:xfrm>
            <a:off x="731520" y="1371600"/>
            <a:ext cx="5175504" cy="4754880"/>
          </a:xfrm>
          <a:prstGeom prst="roundRect">
            <a:avLst>
              <a:gd name="adj" fmla="val 2308"/>
            </a:avLst>
          </a:prstGeom>
          <a:solidFill>
            <a:srgbClr val="FFFFFF"/>
          </a:solidFill>
          <a:ln w="12700">
            <a:solidFill>
              <a:srgbClr val="E2E8F0"/>
            </a:solidFill>
            <a:prstDash val="solid"/>
          </a:ln>
        </p:spPr>
      </p:sp>
      <p:sp>
        <p:nvSpPr>
          <p:cNvPr id="9" name="Text 7"/>
          <p:cNvSpPr/>
          <p:nvPr/>
        </p:nvSpPr>
        <p:spPr>
          <a:xfrm>
            <a:off x="1005840" y="1600200"/>
            <a:ext cx="4572000" cy="365760"/>
          </a:xfrm>
          <a:prstGeom prst="rect">
            <a:avLst/>
          </a:prstGeom>
          <a:noFill/>
          <a:ln/>
        </p:spPr>
        <p:txBody>
          <a:bodyPr wrap="square" rtlCol="0" anchor="ctr"/>
          <a:lstStyle/>
          <a:p>
            <a:pPr marL="0" indent="0">
              <a:buNone/>
            </a:pPr>
            <a:r>
              <a:rPr lang="en-US" sz="1500" b="1" dirty="0">
                <a:solidFill>
                  <a:srgbClr val="062C24"/>
                </a:solidFill>
              </a:rPr>
              <a:t>Alur Eksekusi Sekuensial Program</a:t>
            </a:r>
            <a:endParaRPr lang="en-US" sz="1500" dirty="0"/>
          </a:p>
        </p:txBody>
      </p:sp>
      <p:sp>
        <p:nvSpPr>
          <p:cNvPr id="10" name="Text 8"/>
          <p:cNvSpPr/>
          <p:nvPr/>
        </p:nvSpPr>
        <p:spPr>
          <a:xfrm>
            <a:off x="1005840" y="2057400"/>
            <a:ext cx="4626864" cy="3840480"/>
          </a:xfrm>
          <a:prstGeom prst="rect">
            <a:avLst/>
          </a:prstGeom>
          <a:noFill/>
          <a:ln/>
        </p:spPr>
        <p:txBody>
          <a:bodyPr wrap="square" rtlCol="0" anchor="ctr"/>
          <a:lstStyle/>
          <a:p>
            <a:pPr marL="0" indent="0">
              <a:lnSpc>
                <a:spcPts val="1600"/>
              </a:lnSpc>
              <a:buNone/>
            </a:pPr>
            <a:r>
              <a:rPr lang="en-US" sz="1100" b="1" dirty="0">
                <a:solidFill>
                  <a:srgbClr val="006747"/>
                </a:solidFill>
              </a:rPr>
              <a:t>1. Tangkap Event Form Submit:
</a:t>
            </a:r>
            <a:r>
              <a:rPr lang="en-US" sz="1050" dirty="0">
                <a:solidFill>
                  <a:srgbClr val="1E293B"/>
                </a:solidFill>
              </a:rPr>
              <a:t>Menghentikan reload bawaan browser via event.preventDefault().
</a:t>
            </a:r>
            <a:r>
              <a:rPr lang="en-US" sz="1100" b="1" dirty="0">
                <a:solidFill>
                  <a:srgbClr val="006747"/>
                </a:solidFill>
              </a:rPr>
              <a:t>2. Validasi Format &amp; Kelengkapan:
</a:t>
            </a:r>
            <a:r>
              <a:rPr lang="en-US" sz="1050" dirty="0">
                <a:solidFill>
                  <a:srgbClr val="1E293B"/>
                </a:solidFill>
              </a:rPr>
              <a:t>Mengecek nilai kosong, format durasi numerik &gt; 0, dan validasi kategori buku.
</a:t>
            </a:r>
            <a:r>
              <a:rPr lang="en-US" sz="1100" b="1" dirty="0">
                <a:solidFill>
                  <a:srgbClr val="006747"/>
                </a:solidFill>
              </a:rPr>
              <a:t>3. Eksekusi Fungsi Kalkulasi Denda:
</a:t>
            </a:r>
            <a:r>
              <a:rPr lang="en-US" sz="1050" dirty="0">
                <a:solidFill>
                  <a:srgbClr val="1E293B"/>
                </a:solidFill>
              </a:rPr>
              <a:t>Menghitung status dan nominal rupiah berdasarkan aturan bisnis perpustakaan.
</a:t>
            </a:r>
            <a:r>
              <a:rPr lang="en-US" sz="1100" b="1" dirty="0">
                <a:solidFill>
                  <a:srgbClr val="006747"/>
                </a:solidFill>
              </a:rPr>
              <a:t>4. Simpan ke Array &amp; Render DOM:
</a:t>
            </a:r>
            <a:r>
              <a:rPr lang="en-US" sz="1050" dirty="0">
                <a:solidFill>
                  <a:srgbClr val="1E293B"/>
                </a:solidFill>
              </a:rPr>
              <a:t>Mendorong data objek transaksi baru ke array dan memanggil fungsi render tabel.</a:t>
            </a:r>
            <a:endParaRPr lang="en-US" sz="1100" dirty="0"/>
          </a:p>
        </p:txBody>
      </p:sp>
      <p:sp>
        <p:nvSpPr>
          <p:cNvPr id="11" name="Shape 9"/>
          <p:cNvSpPr/>
          <p:nvPr/>
        </p:nvSpPr>
        <p:spPr>
          <a:xfrm>
            <a:off x="6272784" y="1371600"/>
            <a:ext cx="5175504" cy="4754880"/>
          </a:xfrm>
          <a:prstGeom prst="roundRect">
            <a:avLst>
              <a:gd name="adj" fmla="val 2308"/>
            </a:avLst>
          </a:prstGeom>
          <a:solidFill>
            <a:srgbClr val="FFFFFF"/>
          </a:solidFill>
          <a:ln w="12700">
            <a:solidFill>
              <a:srgbClr val="E2E8F0"/>
            </a:solidFill>
            <a:prstDash val="solid"/>
          </a:ln>
        </p:spPr>
      </p:sp>
      <p:sp>
        <p:nvSpPr>
          <p:cNvPr id="12" name="Text 10"/>
          <p:cNvSpPr/>
          <p:nvPr/>
        </p:nvSpPr>
        <p:spPr>
          <a:xfrm>
            <a:off x="6547104" y="1600200"/>
            <a:ext cx="4572000" cy="365760"/>
          </a:xfrm>
          <a:prstGeom prst="rect">
            <a:avLst/>
          </a:prstGeom>
          <a:noFill/>
          <a:ln/>
        </p:spPr>
        <p:txBody>
          <a:bodyPr wrap="square" rtlCol="0" anchor="ctr"/>
          <a:lstStyle/>
          <a:p>
            <a:pPr marL="0" indent="0">
              <a:buNone/>
            </a:pPr>
            <a:r>
              <a:rPr lang="en-US" sz="1500" b="1" dirty="0">
                <a:solidFill>
                  <a:srgbClr val="062C24"/>
                </a:solidFill>
              </a:rPr>
              <a:t>Percabangan Aturan Denda (if - else)</a:t>
            </a:r>
            <a:endParaRPr lang="en-US" sz="1500" dirty="0"/>
          </a:p>
        </p:txBody>
      </p:sp>
      <p:sp>
        <p:nvSpPr>
          <p:cNvPr id="13" name="Text 11"/>
          <p:cNvSpPr/>
          <p:nvPr/>
        </p:nvSpPr>
        <p:spPr>
          <a:xfrm>
            <a:off x="6547104" y="1965960"/>
            <a:ext cx="4626864" cy="411480"/>
          </a:xfrm>
          <a:prstGeom prst="rect">
            <a:avLst/>
          </a:prstGeom>
          <a:noFill/>
          <a:ln/>
        </p:spPr>
        <p:txBody>
          <a:bodyPr wrap="square" rtlCol="0" anchor="ctr"/>
          <a:lstStyle/>
          <a:p>
            <a:pPr marL="0" indent="0">
              <a:buNone/>
            </a:pPr>
            <a:r>
              <a:rPr lang="en-US" sz="1050" dirty="0">
                <a:solidFill>
                  <a:srgbClr val="64748B"/>
                </a:solidFill>
              </a:rPr>
              <a:t>Logika evaluasi batas pinjam (maksimal 7 hari) dan tarif denda Rp 2.000 / hari keterlambatan:</a:t>
            </a:r>
            <a:endParaRPr lang="en-US" sz="1050" dirty="0"/>
          </a:p>
        </p:txBody>
      </p:sp>
      <p:sp>
        <p:nvSpPr>
          <p:cNvPr id="14" name="Shape 12"/>
          <p:cNvSpPr/>
          <p:nvPr/>
        </p:nvSpPr>
        <p:spPr>
          <a:xfrm>
            <a:off x="6547104" y="2468880"/>
            <a:ext cx="4626864" cy="3383280"/>
          </a:xfrm>
          <a:prstGeom prst="roundRect">
            <a:avLst>
              <a:gd name="adj" fmla="val 2162"/>
            </a:avLst>
          </a:prstGeom>
          <a:solidFill>
            <a:srgbClr val="0F172A"/>
          </a:solidFill>
          <a:ln/>
        </p:spPr>
      </p:sp>
      <p:sp>
        <p:nvSpPr>
          <p:cNvPr id="15" name="Text 13"/>
          <p:cNvSpPr/>
          <p:nvPr/>
        </p:nvSpPr>
        <p:spPr>
          <a:xfrm>
            <a:off x="6675120" y="2560320"/>
            <a:ext cx="4370832" cy="3200400"/>
          </a:xfrm>
          <a:prstGeom prst="rect">
            <a:avLst/>
          </a:prstGeom>
          <a:noFill/>
          <a:ln/>
        </p:spPr>
        <p:txBody>
          <a:bodyPr wrap="square" rtlCol="0" anchor="ctr"/>
          <a:lstStyle/>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 Aturan Bisnis Perpustakaan</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const BATAS_HARI = 7;</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const TARIF_DENDA = 2000;</a:t>
            </a:r>
            <a:endParaRPr lang="en-US" sz="950" dirty="0"/>
          </a:p>
          <a:p>
            <a:pPr marL="0" indent="0">
              <a:lnSpc>
                <a:spcPts val="1500"/>
              </a:lnSpc>
              <a:buNone/>
            </a:pP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let status = '';</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let denda = 0;</a:t>
            </a:r>
            <a:endParaRPr lang="en-US" sz="950" dirty="0"/>
          </a:p>
          <a:p>
            <a:pPr marL="0" indent="0">
              <a:lnSpc>
                <a:spcPts val="1500"/>
              </a:lnSpc>
              <a:buNone/>
            </a:pP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if (durasiPinjam &gt; BATAS_HARI) {</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    status = 'Terlambat';</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    const hariTerlambat = durasiPinjam - BATAS_HARI;</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    denda = hariTerlambat * TARIF_DENDA;</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 else {</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    status = 'Tepat Waktu';</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    denda = 0;</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a:t>
            </a:r>
            <a:endParaRPr lang="en-US" sz="950" dirty="0"/>
          </a:p>
          <a:p>
            <a:pPr marL="0" indent="0">
              <a:lnSpc>
                <a:spcPts val="1500"/>
              </a:lnSpc>
              <a:buNone/>
            </a:pP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 Format Rupiah Baku</a:t>
            </a:r>
            <a:endParaRPr lang="en-US" sz="950" dirty="0"/>
          </a:p>
          <a:p>
            <a:pPr marL="0" indent="0">
              <a:lnSpc>
                <a:spcPts val="1500"/>
              </a:lnSpc>
              <a:buNone/>
            </a:pPr>
            <a:r>
              <a:rPr lang="en-US" sz="950" dirty="0">
                <a:solidFill>
                  <a:srgbClr val="38BDF8"/>
                </a:solidFill>
                <a:latin typeface="Courier New" pitchFamily="34" charset="0"/>
                <a:ea typeface="Courier New" pitchFamily="34" charset="-122"/>
                <a:cs typeface="Courier New" pitchFamily="34" charset="-120"/>
              </a:rPr>
              <a:t>const dendaRupiah = formatRupiah(denda);</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solidFill>
              <a:srgbClr val="F59E0B"/>
            </a:solid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PENGOLAHAN DATA</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Perulangan Array &amp; Filter Pencarian Real-Time</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8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sp>
        <p:nvSpPr>
          <p:cNvPr id="8" name="Shape 6"/>
          <p:cNvSpPr/>
          <p:nvPr/>
        </p:nvSpPr>
        <p:spPr>
          <a:xfrm>
            <a:off x="731520" y="1371600"/>
            <a:ext cx="5175504" cy="4754880"/>
          </a:xfrm>
          <a:prstGeom prst="roundRect">
            <a:avLst>
              <a:gd name="adj" fmla="val 2308"/>
            </a:avLst>
          </a:prstGeom>
          <a:solidFill>
            <a:srgbClr val="FFFFFF"/>
          </a:solidFill>
          <a:ln w="12700">
            <a:solidFill>
              <a:srgbClr val="E2E8F0"/>
            </a:solidFill>
            <a:prstDash val="solid"/>
          </a:ln>
        </p:spPr>
      </p:sp>
      <p:sp>
        <p:nvSpPr>
          <p:cNvPr id="9" name="Text 7"/>
          <p:cNvSpPr/>
          <p:nvPr/>
        </p:nvSpPr>
        <p:spPr>
          <a:xfrm>
            <a:off x="1005840" y="1600200"/>
            <a:ext cx="4572000" cy="365760"/>
          </a:xfrm>
          <a:prstGeom prst="rect">
            <a:avLst/>
          </a:prstGeom>
          <a:noFill/>
          <a:ln/>
        </p:spPr>
        <p:txBody>
          <a:bodyPr wrap="square" rtlCol="0" anchor="ctr"/>
          <a:lstStyle/>
          <a:p>
            <a:pPr marL="0" indent="0">
              <a:buNone/>
            </a:pPr>
            <a:r>
              <a:rPr lang="en-US" sz="1500" b="1" dirty="0">
                <a:solidFill>
                  <a:srgbClr val="062C24"/>
                </a:solidFill>
              </a:rPr>
              <a:t>Perulangan Dinamis (forEach)</a:t>
            </a:r>
            <a:endParaRPr lang="en-US" sz="1500" dirty="0"/>
          </a:p>
        </p:txBody>
      </p:sp>
      <p:sp>
        <p:nvSpPr>
          <p:cNvPr id="10" name="Text 8"/>
          <p:cNvSpPr/>
          <p:nvPr/>
        </p:nvSpPr>
        <p:spPr>
          <a:xfrm>
            <a:off x="1005840" y="2057400"/>
            <a:ext cx="4626864" cy="3840480"/>
          </a:xfrm>
          <a:prstGeom prst="rect">
            <a:avLst/>
          </a:prstGeom>
          <a:noFill/>
          <a:ln/>
        </p:spPr>
        <p:txBody>
          <a:bodyPr wrap="square" rtlCol="0" anchor="ctr"/>
          <a:lstStyle/>
          <a:p>
            <a:pPr marL="0" indent="0">
              <a:lnSpc>
                <a:spcPts val="1600"/>
              </a:lnSpc>
              <a:buNone/>
            </a:pPr>
            <a:r>
              <a:rPr lang="en-US" sz="1100" b="1" dirty="0">
                <a:solidFill>
                  <a:srgbClr val="006747"/>
                </a:solidFill>
              </a:rPr>
              <a:t>• Iterasi Komprehensif:
</a:t>
            </a:r>
            <a:r>
              <a:rPr lang="en-US" sz="1050" dirty="0">
                <a:solidFill>
                  <a:srgbClr val="1E293B"/>
                </a:solidFill>
              </a:rPr>
              <a:t>Mengiterasi setiap objek transaksi di dalam dataPeminjaman secara dinamis.
</a:t>
            </a:r>
            <a:r>
              <a:rPr lang="en-US" sz="1100" b="1" dirty="0">
                <a:solidFill>
                  <a:srgbClr val="006747"/>
                </a:solidFill>
              </a:rPr>
              <a:t>• Manipulasi innerHTML:
</a:t>
            </a:r>
            <a:r>
              <a:rPr lang="en-US" sz="1050" dirty="0">
                <a:solidFill>
                  <a:srgbClr val="1E293B"/>
                </a:solidFill>
              </a:rPr>
              <a:t>Menghasilkan baris &lt;tr&gt; dan kolom &lt;td&gt; lengkap dengan badge status warna (Hijau = Tepat Waktu, Merah = Terlambat).
</a:t>
            </a:r>
            <a:r>
              <a:rPr lang="en-US" sz="1100" b="1" dirty="0">
                <a:solidFill>
                  <a:srgbClr val="006747"/>
                </a:solidFill>
              </a:rPr>
              <a:t>• Tombol Aksi Selesai:
</a:t>
            </a:r>
            <a:r>
              <a:rPr lang="en-US" sz="1050" dirty="0">
                <a:solidFill>
                  <a:srgbClr val="1E293B"/>
                </a:solidFill>
              </a:rPr>
              <a:t>Menyisipkan tombol interaktif untuk menandai pengembalian buku dengan konfirmasi SweetAlert2.</a:t>
            </a:r>
            <a:endParaRPr lang="en-US" sz="1100" dirty="0"/>
          </a:p>
        </p:txBody>
      </p:sp>
      <p:sp>
        <p:nvSpPr>
          <p:cNvPr id="11" name="Shape 9"/>
          <p:cNvSpPr/>
          <p:nvPr/>
        </p:nvSpPr>
        <p:spPr>
          <a:xfrm>
            <a:off x="6272784" y="1371600"/>
            <a:ext cx="5175504" cy="4754880"/>
          </a:xfrm>
          <a:prstGeom prst="roundRect">
            <a:avLst>
              <a:gd name="adj" fmla="val 2308"/>
            </a:avLst>
          </a:prstGeom>
          <a:solidFill>
            <a:srgbClr val="FFFFFF"/>
          </a:solidFill>
          <a:ln w="12700">
            <a:solidFill>
              <a:srgbClr val="E2E8F0"/>
            </a:solidFill>
            <a:prstDash val="solid"/>
          </a:ln>
        </p:spPr>
      </p:sp>
      <p:sp>
        <p:nvSpPr>
          <p:cNvPr id="12" name="Text 10"/>
          <p:cNvSpPr/>
          <p:nvPr/>
        </p:nvSpPr>
        <p:spPr>
          <a:xfrm>
            <a:off x="6547104" y="1600200"/>
            <a:ext cx="4572000" cy="365760"/>
          </a:xfrm>
          <a:prstGeom prst="rect">
            <a:avLst/>
          </a:prstGeom>
          <a:noFill/>
          <a:ln/>
        </p:spPr>
        <p:txBody>
          <a:bodyPr wrap="square" rtlCol="0" anchor="ctr"/>
          <a:lstStyle/>
          <a:p>
            <a:pPr marL="0" indent="0">
              <a:buNone/>
            </a:pPr>
            <a:r>
              <a:rPr lang="en-US" sz="1500" b="1" dirty="0">
                <a:solidFill>
                  <a:srgbClr val="062C24"/>
                </a:solidFill>
              </a:rPr>
              <a:t>Filter Pencarian Real-Time &amp; Teks</a:t>
            </a:r>
            <a:endParaRPr lang="en-US" sz="1500" dirty="0"/>
          </a:p>
        </p:txBody>
      </p:sp>
      <p:sp>
        <p:nvSpPr>
          <p:cNvPr id="13" name="Text 11"/>
          <p:cNvSpPr/>
          <p:nvPr/>
        </p:nvSpPr>
        <p:spPr>
          <a:xfrm>
            <a:off x="6547104" y="2057400"/>
            <a:ext cx="4626864" cy="3840480"/>
          </a:xfrm>
          <a:prstGeom prst="rect">
            <a:avLst/>
          </a:prstGeom>
          <a:noFill/>
          <a:ln/>
        </p:spPr>
        <p:txBody>
          <a:bodyPr wrap="square" rtlCol="0" anchor="ctr"/>
          <a:lstStyle/>
          <a:p>
            <a:pPr marL="0" indent="0">
              <a:lnSpc>
                <a:spcPts val="1600"/>
              </a:lnSpc>
              <a:buNone/>
            </a:pPr>
            <a:r>
              <a:rPr lang="en-US" sz="1100" b="1" dirty="0">
                <a:solidFill>
                  <a:srgbClr val="006747"/>
                </a:solidFill>
              </a:rPr>
              <a:t>• Event Listener 'input':
</a:t>
            </a:r>
            <a:r>
              <a:rPr lang="en-US" sz="1050" dirty="0">
                <a:solidFill>
                  <a:srgbClr val="1E293B"/>
                </a:solidFill>
              </a:rPr>
              <a:t>Merespons setiap ketukan keyboard pengguna di kotak cari tanpa perlu menekan tombol submit.
</a:t>
            </a:r>
            <a:r>
              <a:rPr lang="en-US" sz="1100" b="1" dirty="0">
                <a:solidFill>
                  <a:srgbClr val="006747"/>
                </a:solidFill>
              </a:rPr>
              <a:t>• Normalisasi Huruf (.toLowerCase()):
</a:t>
            </a:r>
            <a:r>
              <a:rPr lang="en-US" sz="1050" dirty="0">
                <a:solidFill>
                  <a:srgbClr val="1E293B"/>
                </a:solidFill>
              </a:rPr>
              <a:t>Mengubah kata kunci dan nama peminjam ke huruf kecil agar pencarian bersifat case-insensitive.
</a:t>
            </a:r>
            <a:r>
              <a:rPr lang="en-US" sz="1100" b="1" dirty="0">
                <a:solidFill>
                  <a:srgbClr val="006747"/>
                </a:solidFill>
              </a:rPr>
              <a:t>• Metode String .includes():
</a:t>
            </a:r>
            <a:r>
              <a:rPr lang="en-US" sz="1050" dirty="0">
                <a:solidFill>
                  <a:srgbClr val="1E293B"/>
                </a:solidFill>
              </a:rPr>
              <a:t>Mengecek apakah nama peminjam atau judul buku mengandung substring kata kunci pencarian.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solidFill>
              <a:srgbClr val="F59E0B"/>
            </a:solid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GRAFIS &amp; MULTIMEDIA</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Pemanfaatan Canvas 2D &amp; Media Lokal</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9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sp>
        <p:nvSpPr>
          <p:cNvPr id="8" name="Shape 6"/>
          <p:cNvSpPr/>
          <p:nvPr/>
        </p:nvSpPr>
        <p:spPr>
          <a:xfrm>
            <a:off x="731520" y="1371600"/>
            <a:ext cx="3447288" cy="4754880"/>
          </a:xfrm>
          <a:prstGeom prst="roundRect">
            <a:avLst>
              <a:gd name="adj" fmla="val 3183"/>
            </a:avLst>
          </a:prstGeom>
          <a:solidFill>
            <a:srgbClr val="FFFFFF"/>
          </a:solidFill>
          <a:ln w="12700">
            <a:solidFill>
              <a:srgbClr val="E2E8F0"/>
            </a:solidFill>
            <a:prstDash val="solid"/>
          </a:ln>
        </p:spPr>
      </p:sp>
      <p:sp>
        <p:nvSpPr>
          <p:cNvPr id="9" name="Shape 7"/>
          <p:cNvSpPr/>
          <p:nvPr/>
        </p:nvSpPr>
        <p:spPr>
          <a:xfrm>
            <a:off x="731520" y="1371600"/>
            <a:ext cx="3447288" cy="109728"/>
          </a:xfrm>
          <a:prstGeom prst="rect">
            <a:avLst/>
          </a:prstGeom>
          <a:solidFill>
            <a:srgbClr val="006747"/>
          </a:solidFill>
          <a:ln/>
        </p:spPr>
      </p:sp>
      <p:sp>
        <p:nvSpPr>
          <p:cNvPr id="10" name="Text 8"/>
          <p:cNvSpPr/>
          <p:nvPr/>
        </p:nvSpPr>
        <p:spPr>
          <a:xfrm>
            <a:off x="1005840" y="1645920"/>
            <a:ext cx="2898648" cy="228600"/>
          </a:xfrm>
          <a:prstGeom prst="rect">
            <a:avLst/>
          </a:prstGeom>
          <a:noFill/>
          <a:ln/>
        </p:spPr>
        <p:txBody>
          <a:bodyPr wrap="square" rtlCol="0" anchor="ctr"/>
          <a:lstStyle/>
          <a:p>
            <a:pPr marL="0" indent="0">
              <a:buNone/>
            </a:pPr>
            <a:r>
              <a:rPr lang="en-US" sz="900" b="1" dirty="0">
                <a:solidFill>
                  <a:srgbClr val="F59E0B"/>
                </a:solidFill>
              </a:rPr>
              <a:t>GRAFIS INTERAKTIF</a:t>
            </a:r>
            <a:endParaRPr lang="en-US" sz="900" dirty="0"/>
          </a:p>
        </p:txBody>
      </p:sp>
      <p:sp>
        <p:nvSpPr>
          <p:cNvPr id="11" name="Text 9"/>
          <p:cNvSpPr/>
          <p:nvPr/>
        </p:nvSpPr>
        <p:spPr>
          <a:xfrm>
            <a:off x="1005840" y="1920240"/>
            <a:ext cx="2898648" cy="411480"/>
          </a:xfrm>
          <a:prstGeom prst="rect">
            <a:avLst/>
          </a:prstGeom>
          <a:noFill/>
          <a:ln/>
        </p:spPr>
        <p:txBody>
          <a:bodyPr wrap="square" rtlCol="0" anchor="ctr"/>
          <a:lstStyle/>
          <a:p>
            <a:pPr marL="0" indent="0">
              <a:buNone/>
            </a:pPr>
            <a:r>
              <a:rPr lang="en-US" sz="1400" b="1" dirty="0">
                <a:solidFill>
                  <a:srgbClr val="062C24"/>
                </a:solidFill>
              </a:rPr>
              <a:t>HTML5 Canvas 2D</a:t>
            </a:r>
            <a:endParaRPr lang="en-US" sz="1400" dirty="0"/>
          </a:p>
        </p:txBody>
      </p:sp>
      <p:sp>
        <p:nvSpPr>
          <p:cNvPr id="12" name="Text 10"/>
          <p:cNvSpPr/>
          <p:nvPr/>
        </p:nvSpPr>
        <p:spPr>
          <a:xfrm>
            <a:off x="1005840" y="2468880"/>
            <a:ext cx="2898648" cy="3474720"/>
          </a:xfrm>
          <a:prstGeom prst="rect">
            <a:avLst/>
          </a:prstGeom>
          <a:noFill/>
          <a:ln/>
        </p:spPr>
        <p:txBody>
          <a:bodyPr wrap="square" rtlCol="0" anchor="ctr"/>
          <a:lstStyle/>
          <a:p>
            <a:pPr marL="0" indent="0">
              <a:lnSpc>
                <a:spcPts val="1800"/>
              </a:lnSpc>
              <a:buNone/>
            </a:pPr>
            <a:r>
              <a:rPr lang="en-US" sz="1050" dirty="0">
                <a:solidFill>
                  <a:srgbClr val="1E293B"/>
                </a:solidFill>
              </a:rPr>
              <a:t>• Area goresan tanda tangan / paraf digital serah terima buku.</a:t>
            </a:r>
            <a:endParaRPr lang="en-US" sz="1050" dirty="0"/>
          </a:p>
          <a:p>
            <a:pPr marL="0" indent="0">
              <a:lnSpc>
                <a:spcPts val="1800"/>
              </a:lnSpc>
              <a:buNone/>
            </a:pPr>
            <a:r>
              <a:rPr lang="en-US" sz="1050" dirty="0">
                <a:solidFill>
                  <a:srgbClr val="1E293B"/>
                </a:solidFill>
              </a:rPr>
              <a:t>• Menangkap pointer koordinat (mousedown, mousemove, mouseup, touchstart, touchmove).</a:t>
            </a:r>
            <a:endParaRPr lang="en-US" sz="1050" dirty="0"/>
          </a:p>
          <a:p>
            <a:pPr marL="0" indent="0">
              <a:lnSpc>
                <a:spcPts val="1800"/>
              </a:lnSpc>
              <a:buNone/>
            </a:pPr>
            <a:r>
              <a:rPr lang="en-US" sz="1050" dirty="0">
                <a:solidFill>
                  <a:srgbClr val="1E293B"/>
                </a:solidFill>
              </a:rPr>
              <a:t>• Fitur Clear Canvas &amp; Download Gambar Tanda Tangan ke format file PNG transparan.</a:t>
            </a:r>
            <a:endParaRPr lang="en-US" sz="1050" dirty="0"/>
          </a:p>
        </p:txBody>
      </p:sp>
      <p:sp>
        <p:nvSpPr>
          <p:cNvPr id="13" name="Shape 11"/>
          <p:cNvSpPr/>
          <p:nvPr/>
        </p:nvSpPr>
        <p:spPr>
          <a:xfrm>
            <a:off x="4361688" y="1371600"/>
            <a:ext cx="3447288" cy="4754880"/>
          </a:xfrm>
          <a:prstGeom prst="roundRect">
            <a:avLst>
              <a:gd name="adj" fmla="val 3183"/>
            </a:avLst>
          </a:prstGeom>
          <a:solidFill>
            <a:srgbClr val="FFFFFF"/>
          </a:solidFill>
          <a:ln w="12700">
            <a:solidFill>
              <a:srgbClr val="E2E8F0"/>
            </a:solidFill>
            <a:prstDash val="solid"/>
          </a:ln>
        </p:spPr>
      </p:sp>
      <p:sp>
        <p:nvSpPr>
          <p:cNvPr id="14" name="Shape 12"/>
          <p:cNvSpPr/>
          <p:nvPr/>
        </p:nvSpPr>
        <p:spPr>
          <a:xfrm>
            <a:off x="4361688" y="1371600"/>
            <a:ext cx="3447288" cy="109728"/>
          </a:xfrm>
          <a:prstGeom prst="rect">
            <a:avLst/>
          </a:prstGeom>
          <a:solidFill>
            <a:srgbClr val="F59E0B"/>
          </a:solidFill>
          <a:ln/>
        </p:spPr>
      </p:sp>
      <p:sp>
        <p:nvSpPr>
          <p:cNvPr id="15" name="Text 13"/>
          <p:cNvSpPr/>
          <p:nvPr/>
        </p:nvSpPr>
        <p:spPr>
          <a:xfrm>
            <a:off x="4636008" y="1645920"/>
            <a:ext cx="2898648" cy="228600"/>
          </a:xfrm>
          <a:prstGeom prst="rect">
            <a:avLst/>
          </a:prstGeom>
          <a:noFill/>
          <a:ln/>
        </p:spPr>
        <p:txBody>
          <a:bodyPr wrap="square" rtlCol="0" anchor="ctr"/>
          <a:lstStyle/>
          <a:p>
            <a:pPr marL="0" indent="0">
              <a:buNone/>
            </a:pPr>
            <a:r>
              <a:rPr lang="en-US" sz="900" b="1" dirty="0">
                <a:solidFill>
                  <a:srgbClr val="F59E0B"/>
                </a:solidFill>
              </a:rPr>
              <a:t>PROFIL PERPUSTAKAAN</a:t>
            </a:r>
            <a:endParaRPr lang="en-US" sz="900" dirty="0"/>
          </a:p>
        </p:txBody>
      </p:sp>
      <p:sp>
        <p:nvSpPr>
          <p:cNvPr id="16" name="Text 14"/>
          <p:cNvSpPr/>
          <p:nvPr/>
        </p:nvSpPr>
        <p:spPr>
          <a:xfrm>
            <a:off x="4636008" y="1920240"/>
            <a:ext cx="2898648" cy="411480"/>
          </a:xfrm>
          <a:prstGeom prst="rect">
            <a:avLst/>
          </a:prstGeom>
          <a:noFill/>
          <a:ln/>
        </p:spPr>
        <p:txBody>
          <a:bodyPr wrap="square" rtlCol="0" anchor="ctr"/>
          <a:lstStyle/>
          <a:p>
            <a:pPr marL="0" indent="0">
              <a:buNone/>
            </a:pPr>
            <a:r>
              <a:rPr lang="en-US" sz="1400" b="1" dirty="0">
                <a:solidFill>
                  <a:srgbClr val="062C24"/>
                </a:solidFill>
              </a:rPr>
              <a:t>Pemutar Video Lokal</a:t>
            </a:r>
            <a:endParaRPr lang="en-US" sz="1400" dirty="0"/>
          </a:p>
        </p:txBody>
      </p:sp>
      <p:sp>
        <p:nvSpPr>
          <p:cNvPr id="17" name="Text 15"/>
          <p:cNvSpPr/>
          <p:nvPr/>
        </p:nvSpPr>
        <p:spPr>
          <a:xfrm>
            <a:off x="4636008" y="2468880"/>
            <a:ext cx="2898648" cy="3474720"/>
          </a:xfrm>
          <a:prstGeom prst="rect">
            <a:avLst/>
          </a:prstGeom>
          <a:noFill/>
          <a:ln/>
        </p:spPr>
        <p:txBody>
          <a:bodyPr wrap="square" rtlCol="0" anchor="ctr"/>
          <a:lstStyle/>
          <a:p>
            <a:pPr marL="0" indent="0">
              <a:lnSpc>
                <a:spcPts val="1800"/>
              </a:lnSpc>
              <a:buNone/>
            </a:pPr>
            <a:r>
              <a:rPr lang="en-US" sz="1050" dirty="0">
                <a:solidFill>
                  <a:srgbClr val="1E293B"/>
                </a:solidFill>
              </a:rPr>
              <a:t>• Menggunakan tag bawaan HTML5 &lt;video controls&gt; yang responsif (100% card width).</a:t>
            </a:r>
            <a:endParaRPr lang="en-US" sz="1050" dirty="0"/>
          </a:p>
          <a:p>
            <a:pPr marL="0" indent="0">
              <a:lnSpc>
                <a:spcPts val="1800"/>
              </a:lnSpc>
              <a:buNone/>
            </a:pPr>
            <a:r>
              <a:rPr lang="en-US" sz="1050" dirty="0">
                <a:solidFill>
                  <a:srgbClr val="1E293B"/>
                </a:solidFill>
              </a:rPr>
              <a:t>• File video disimpan di assets/video/profil_perpustakaan.webm.</a:t>
            </a:r>
            <a:endParaRPr lang="en-US" sz="1050" dirty="0"/>
          </a:p>
          <a:p>
            <a:pPr marL="0" indent="0">
              <a:lnSpc>
                <a:spcPts val="1800"/>
              </a:lnSpc>
              <a:buNone/>
            </a:pPr>
            <a:r>
              <a:rPr lang="en-US" sz="1050" dirty="0">
                <a:solidFill>
                  <a:srgbClr val="1E293B"/>
                </a:solidFill>
              </a:rPr>
              <a:t>• Bebas dari ketergantungan koneksi internet dan API pihak ketiga (bebas CORS / error 404).</a:t>
            </a:r>
            <a:endParaRPr lang="en-US" sz="1050" dirty="0"/>
          </a:p>
        </p:txBody>
      </p:sp>
      <p:sp>
        <p:nvSpPr>
          <p:cNvPr id="18" name="Shape 16"/>
          <p:cNvSpPr/>
          <p:nvPr/>
        </p:nvSpPr>
        <p:spPr>
          <a:xfrm>
            <a:off x="7991856" y="1371600"/>
            <a:ext cx="3447288" cy="4754880"/>
          </a:xfrm>
          <a:prstGeom prst="roundRect">
            <a:avLst>
              <a:gd name="adj" fmla="val 3183"/>
            </a:avLst>
          </a:prstGeom>
          <a:solidFill>
            <a:srgbClr val="FFFFFF"/>
          </a:solidFill>
          <a:ln w="12700">
            <a:solidFill>
              <a:srgbClr val="E2E8F0"/>
            </a:solidFill>
            <a:prstDash val="solid"/>
          </a:ln>
        </p:spPr>
      </p:sp>
      <p:sp>
        <p:nvSpPr>
          <p:cNvPr id="19" name="Shape 17"/>
          <p:cNvSpPr/>
          <p:nvPr/>
        </p:nvSpPr>
        <p:spPr>
          <a:xfrm>
            <a:off x="7991856" y="1371600"/>
            <a:ext cx="3447288" cy="109728"/>
          </a:xfrm>
          <a:prstGeom prst="rect">
            <a:avLst/>
          </a:prstGeom>
          <a:solidFill>
            <a:srgbClr val="062C24"/>
          </a:solidFill>
          <a:ln/>
        </p:spPr>
      </p:sp>
      <p:sp>
        <p:nvSpPr>
          <p:cNvPr id="20" name="Text 18"/>
          <p:cNvSpPr/>
          <p:nvPr/>
        </p:nvSpPr>
        <p:spPr>
          <a:xfrm>
            <a:off x="8266176" y="1645920"/>
            <a:ext cx="2898648" cy="228600"/>
          </a:xfrm>
          <a:prstGeom prst="rect">
            <a:avLst/>
          </a:prstGeom>
          <a:noFill/>
          <a:ln/>
        </p:spPr>
        <p:txBody>
          <a:bodyPr wrap="square" rtlCol="0" anchor="ctr"/>
          <a:lstStyle/>
          <a:p>
            <a:pPr marL="0" indent="0">
              <a:buNone/>
            </a:pPr>
            <a:r>
              <a:rPr lang="en-US" sz="900" b="1" dirty="0">
                <a:solidFill>
                  <a:srgbClr val="F59E0B"/>
                </a:solidFill>
              </a:rPr>
              <a:t>AUDIO INTERAKTIF</a:t>
            </a:r>
            <a:endParaRPr lang="en-US" sz="900" dirty="0"/>
          </a:p>
        </p:txBody>
      </p:sp>
      <p:sp>
        <p:nvSpPr>
          <p:cNvPr id="21" name="Text 19"/>
          <p:cNvSpPr/>
          <p:nvPr/>
        </p:nvSpPr>
        <p:spPr>
          <a:xfrm>
            <a:off x="8266176" y="1920240"/>
            <a:ext cx="2898648" cy="411480"/>
          </a:xfrm>
          <a:prstGeom prst="rect">
            <a:avLst/>
          </a:prstGeom>
          <a:noFill/>
          <a:ln/>
        </p:spPr>
        <p:txBody>
          <a:bodyPr wrap="square" rtlCol="0" anchor="ctr"/>
          <a:lstStyle/>
          <a:p>
            <a:pPr marL="0" indent="0">
              <a:buNone/>
            </a:pPr>
            <a:r>
              <a:rPr lang="en-US" sz="1400" b="1" dirty="0">
                <a:solidFill>
                  <a:srgbClr val="062C24"/>
                </a:solidFill>
              </a:rPr>
              <a:t>Audio Bel Pengumuman</a:t>
            </a:r>
            <a:endParaRPr lang="en-US" sz="1400" dirty="0"/>
          </a:p>
        </p:txBody>
      </p:sp>
      <p:sp>
        <p:nvSpPr>
          <p:cNvPr id="22" name="Text 20"/>
          <p:cNvSpPr/>
          <p:nvPr/>
        </p:nvSpPr>
        <p:spPr>
          <a:xfrm>
            <a:off x="8266176" y="2468880"/>
            <a:ext cx="2898648" cy="3474720"/>
          </a:xfrm>
          <a:prstGeom prst="rect">
            <a:avLst/>
          </a:prstGeom>
          <a:noFill/>
          <a:ln/>
        </p:spPr>
        <p:txBody>
          <a:bodyPr wrap="square" rtlCol="0" anchor="ctr"/>
          <a:lstStyle/>
          <a:p>
            <a:pPr marL="0" indent="0">
              <a:lnSpc>
                <a:spcPts val="1800"/>
              </a:lnSpc>
              <a:buNone/>
            </a:pPr>
            <a:r>
              <a:rPr lang="en-US" sz="1050" dirty="0">
                <a:solidFill>
                  <a:srgbClr val="1E293B"/>
                </a:solidFill>
              </a:rPr>
              <a:t>• Menggunakan elemen &lt;audio&gt; dan Audio API JavaScript.</a:t>
            </a:r>
            <a:endParaRPr lang="en-US" sz="1050" dirty="0"/>
          </a:p>
          <a:p>
            <a:pPr marL="0" indent="0">
              <a:lnSpc>
                <a:spcPts val="1800"/>
              </a:lnSpc>
              <a:buNone/>
            </a:pPr>
            <a:r>
              <a:rPr lang="en-US" sz="1050" dirty="0">
                <a:solidFill>
                  <a:srgbClr val="1E293B"/>
                </a:solidFill>
              </a:rPr>
              <a:t>• File audio format WAV berkualitas tinggi di assets/audio/bel_perpustakaan.wav.</a:t>
            </a:r>
            <a:endParaRPr lang="en-US" sz="1050" dirty="0"/>
          </a:p>
          <a:p>
            <a:pPr marL="0" indent="0">
              <a:lnSpc>
                <a:spcPts val="1800"/>
              </a:lnSpc>
              <a:buNone/>
            </a:pPr>
            <a:r>
              <a:rPr lang="en-US" sz="1050" dirty="0">
                <a:solidFill>
                  <a:srgbClr val="1E293B"/>
                </a:solidFill>
              </a:rPr>
              <a:t>• Dilengkapi tombol kontrol interaktif untuk simulasi pengumuman jam operasional perpustakaan.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no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STANDAR KOMPETENSI</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Matriks Pemenuhan 6 Unit Kompetensi SKKNI No 282/2016</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10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25912" cy="4690872"/>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5330952">
                  <a:extLst>
                    <a:ext uri="{9D8B030D-6E8A-4147-A177-3AD203B41FA5}">
                      <a16:colId xmlns:a16="http://schemas.microsoft.com/office/drawing/2014/main" val="20003"/>
                    </a:ext>
                  </a:extLst>
                </a:gridCol>
              </a:tblGrid>
              <a:tr h="411480">
                <a:tc>
                  <a:txBody>
                    <a:bodyPr/>
                    <a:lstStyle/>
                    <a:p>
                      <a:pPr marL="0" indent="0" algn="ctr">
                        <a:buNone/>
                      </a:pPr>
                      <a:r>
                        <a:rPr lang="en-US" sz="1000" b="1" dirty="0">
                          <a:solidFill>
                            <a:srgbClr val="FFFFFF"/>
                          </a:solidFill>
                        </a:rPr>
                        <a:t>No</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2C24"/>
                    </a:solidFill>
                  </a:tcPr>
                </a:tc>
                <a:tc>
                  <a:txBody>
                    <a:bodyPr/>
                    <a:lstStyle/>
                    <a:p>
                      <a:pPr marL="0" indent="0">
                        <a:buNone/>
                      </a:pPr>
                      <a:r>
                        <a:rPr lang="en-US" sz="1000" b="1" dirty="0">
                          <a:solidFill>
                            <a:srgbClr val="FFFFFF"/>
                          </a:solidFill>
                        </a:rPr>
                        <a:t>Kode Unit SKKNI</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2C24"/>
                    </a:solidFill>
                  </a:tcPr>
                </a:tc>
                <a:tc>
                  <a:txBody>
                    <a:bodyPr/>
                    <a:lstStyle/>
                    <a:p>
                      <a:pPr marL="0" indent="0">
                        <a:buNone/>
                      </a:pPr>
                      <a:r>
                        <a:rPr lang="en-US" sz="1000" b="1" dirty="0">
                          <a:solidFill>
                            <a:srgbClr val="FFFFFF"/>
                          </a:solidFill>
                        </a:rPr>
                        <a:t>Judul Unit Kompetensi</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2C24"/>
                    </a:solidFill>
                  </a:tcPr>
                </a:tc>
                <a:tc>
                  <a:txBody>
                    <a:bodyPr/>
                    <a:lstStyle/>
                    <a:p>
                      <a:pPr marL="0" indent="0">
                        <a:buNone/>
                      </a:pPr>
                      <a:r>
                        <a:rPr lang="en-US" sz="1000" b="1" dirty="0">
                          <a:solidFill>
                            <a:srgbClr val="FFFFFF"/>
                          </a:solidFill>
                        </a:rPr>
                        <a:t>Bukti Nyata pada Proyek SIPUS DIGITAL</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2C24"/>
                    </a:solidFill>
                  </a:tcPr>
                </a:tc>
                <a:extLst>
                  <a:ext uri="{0D108BD9-81ED-4DB2-BD59-A6C34878D82A}">
                    <a16:rowId xmlns:a16="http://schemas.microsoft.com/office/drawing/2014/main" val="10000"/>
                  </a:ext>
                </a:extLst>
              </a:tr>
              <a:tr h="713232">
                <a:tc>
                  <a:txBody>
                    <a:bodyPr/>
                    <a:lstStyle/>
                    <a:p>
                      <a:pPr marL="0" indent="0" algn="ctr">
                        <a:buNone/>
                      </a:pPr>
                      <a:r>
                        <a:rPr lang="en-US" sz="950" dirty="0">
                          <a:solidFill>
                            <a:srgbClr val="000000"/>
                          </a:solidFill>
                        </a:rPr>
                        <a:t>1</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b="1" dirty="0">
                          <a:solidFill>
                            <a:srgbClr val="000000"/>
                          </a:solidFill>
                        </a:rPr>
                        <a:t>J.620100.005.01</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Mengimplementasikan User Interface</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Konversi wireframe mockup ke HTML5 semantik, CSS Flexbox &amp; Grid responsif, dan palet warna Emerald-Gold.</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713232">
                <a:tc>
                  <a:txBody>
                    <a:bodyPr/>
                    <a:lstStyle/>
                    <a:p>
                      <a:pPr marL="0" indent="0" algn="ctr">
                        <a:buNone/>
                      </a:pPr>
                      <a:r>
                        <a:rPr lang="en-US" sz="950" dirty="0">
                          <a:solidFill>
                            <a:srgbClr val="000000"/>
                          </a:solidFill>
                        </a:rPr>
                        <a:t>2</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b="1" dirty="0">
                          <a:solidFill>
                            <a:srgbClr val="000000"/>
                          </a:solidFill>
                        </a:rPr>
                        <a:t>J.620100.015.01</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Mempersiapkan Kode Program</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Struktur direktori modular (css/, js/, assets/), penamaan variabel camelCase, dan header deskripsi.</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lgn="ctr">
                        <a:buNone/>
                      </a:pPr>
                      <a:r>
                        <a:rPr lang="en-US" sz="950" dirty="0">
                          <a:solidFill>
                            <a:srgbClr val="000000"/>
                          </a:solidFill>
                        </a:rPr>
                        <a:t>3</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b="1" dirty="0">
                          <a:solidFill>
                            <a:srgbClr val="000000"/>
                          </a:solidFill>
                        </a:rPr>
                        <a:t>J.620100.017.01</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Pemrograman Terstruktur</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Struktur sekuensial form-to-table, percabangan if/else denda, dan perulangan forEach tabel transaksi.</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713232">
                <a:tc>
                  <a:txBody>
                    <a:bodyPr/>
                    <a:lstStyle/>
                    <a:p>
                      <a:pPr marL="0" indent="0" algn="ctr">
                        <a:buNone/>
                      </a:pPr>
                      <a:r>
                        <a:rPr lang="en-US" sz="950" dirty="0">
                          <a:solidFill>
                            <a:srgbClr val="000000"/>
                          </a:solidFill>
                        </a:rPr>
                        <a:t>4</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b="1" dirty="0">
                          <a:solidFill>
                            <a:srgbClr val="000000"/>
                          </a:solidFill>
                        </a:rPr>
                        <a:t>J.620100.016.01</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Menulis Kode Sesuai Guidelines</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Standar indentasi 4-spasi, clean code, penamaan fungsi self-explanatory, dan lolos validasi HTML/CSS.</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713232">
                <a:tc>
                  <a:txBody>
                    <a:bodyPr/>
                    <a:lstStyle/>
                    <a:p>
                      <a:pPr marL="0" indent="0" algn="ctr">
                        <a:buNone/>
                      </a:pPr>
                      <a:r>
                        <a:rPr lang="en-US" sz="950" dirty="0">
                          <a:solidFill>
                            <a:srgbClr val="000000"/>
                          </a:solidFill>
                        </a:rPr>
                        <a:t>5</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b="1" dirty="0">
                          <a:solidFill>
                            <a:srgbClr val="000000"/>
                          </a:solidFill>
                        </a:rPr>
                        <a:t>J.620100.018.01</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Teks, Grafis &amp; Multimedia</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Canvas 2D paraf tanda tangan digital (ekspor PNG), video WebM profil layanan, dan audio WAV bel sirkulasi.</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713232">
                <a:tc>
                  <a:txBody>
                    <a:bodyPr/>
                    <a:lstStyle/>
                    <a:p>
                      <a:pPr marL="0" indent="0" algn="ctr">
                        <a:buNone/>
                      </a:pPr>
                      <a:r>
                        <a:rPr lang="en-US" sz="950" dirty="0">
                          <a:solidFill>
                            <a:srgbClr val="000000"/>
                          </a:solidFill>
                        </a:rPr>
                        <a:t>6</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b="1" dirty="0">
                          <a:solidFill>
                            <a:srgbClr val="000000"/>
                          </a:solidFill>
                        </a:rPr>
                        <a:t>J.620100.019.002</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Pustaka / Komponen Siap Pakai</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Integrasi FontAwesome 6 icons, Google Font Outfit, SweetAlert2 modal dialog, dan Intl format Rupiah.</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6747"/>
          </a:solidFill>
          <a:ln w="25400">
            <a:noFill/>
            <a:prstDash val="solid"/>
          </a:ln>
        </p:spPr>
      </p:sp>
      <p:sp>
        <p:nvSpPr>
          <p:cNvPr id="3" name="Text 1"/>
          <p:cNvSpPr/>
          <p:nvPr/>
        </p:nvSpPr>
        <p:spPr>
          <a:xfrm>
            <a:off x="731520" y="164592"/>
            <a:ext cx="9144000" cy="256032"/>
          </a:xfrm>
          <a:prstGeom prst="rect">
            <a:avLst/>
          </a:prstGeom>
          <a:noFill/>
          <a:ln/>
        </p:spPr>
        <p:txBody>
          <a:bodyPr wrap="square" rtlCol="0" anchor="ctr"/>
          <a:lstStyle/>
          <a:p>
            <a:pPr marL="0" indent="0">
              <a:buNone/>
            </a:pPr>
            <a:r>
              <a:rPr lang="en-US" sz="1000" b="1" kern="0" spc="200" dirty="0">
                <a:solidFill>
                  <a:srgbClr val="F59E0B"/>
                </a:solidFill>
              </a:rPr>
              <a:t>PENGUJIAN &amp; VALIDASI</a:t>
            </a:r>
            <a:endParaRPr lang="en-US" sz="1000" dirty="0"/>
          </a:p>
        </p:txBody>
      </p:sp>
      <p:sp>
        <p:nvSpPr>
          <p:cNvPr id="4" name="Text 2"/>
          <p:cNvSpPr/>
          <p:nvPr/>
        </p:nvSpPr>
        <p:spPr>
          <a:xfrm>
            <a:off x="731520" y="411480"/>
            <a:ext cx="9144000" cy="502920"/>
          </a:xfrm>
          <a:prstGeom prst="rect">
            <a:avLst/>
          </a:prstGeom>
          <a:noFill/>
          <a:ln/>
        </p:spPr>
        <p:txBody>
          <a:bodyPr wrap="square" rtlCol="0" anchor="ctr"/>
          <a:lstStyle/>
          <a:p>
            <a:pPr marL="0" indent="0">
              <a:buNone/>
            </a:pPr>
            <a:r>
              <a:rPr lang="en-US" sz="2000" b="1" dirty="0">
                <a:solidFill>
                  <a:srgbClr val="FFFFFF"/>
                </a:solidFill>
              </a:rPr>
              <a:t>Pengujian Responsif &amp; Kualitas Source Code</a:t>
            </a:r>
            <a:endParaRPr lang="en-US" sz="2000" dirty="0"/>
          </a:p>
        </p:txBody>
      </p:sp>
      <p:sp>
        <p:nvSpPr>
          <p:cNvPr id="5" name="Text 3"/>
          <p:cNvSpPr/>
          <p:nvPr/>
        </p:nvSpPr>
        <p:spPr>
          <a:xfrm>
            <a:off x="10241280" y="347472"/>
            <a:ext cx="1216152" cy="365760"/>
          </a:xfrm>
          <a:prstGeom prst="rect">
            <a:avLst/>
          </a:prstGeom>
          <a:noFill/>
          <a:ln/>
        </p:spPr>
        <p:txBody>
          <a:bodyPr wrap="square" rtlCol="0" anchor="ctr"/>
          <a:lstStyle/>
          <a:p>
            <a:pPr marL="0" indent="0" algn="r">
              <a:buNone/>
            </a:pPr>
            <a:r>
              <a:rPr lang="en-US" sz="1300" b="1" dirty="0">
                <a:solidFill>
                  <a:srgbClr val="F59E0B"/>
                </a:solidFill>
              </a:rPr>
              <a:t>11 / 12</a:t>
            </a:r>
            <a:endParaRPr lang="en-US" sz="1300" dirty="0"/>
          </a:p>
        </p:txBody>
      </p:sp>
      <p:sp>
        <p:nvSpPr>
          <p:cNvPr id="6" name="Text 4"/>
          <p:cNvSpPr/>
          <p:nvPr/>
        </p:nvSpPr>
        <p:spPr>
          <a:xfrm>
            <a:off x="731520" y="6446520"/>
            <a:ext cx="8229600" cy="320040"/>
          </a:xfrm>
          <a:prstGeom prst="rect">
            <a:avLst/>
          </a:prstGeom>
          <a:noFill/>
          <a:ln/>
        </p:spPr>
        <p:txBody>
          <a:bodyPr wrap="square" rtlCol="0" anchor="ctr"/>
          <a:lstStyle/>
          <a:p>
            <a:pPr marL="0" indent="0">
              <a:buNone/>
            </a:pPr>
            <a:r>
              <a:rPr lang="en-US" sz="900" dirty="0">
                <a:solidFill>
                  <a:srgbClr val="64748B"/>
                </a:solidFill>
              </a:rPr>
              <a:t>SIPUS DIGITAL — Sertifikasi Kompetensi Asisten Pengembang Web (SKKNI 2016)</a:t>
            </a:r>
            <a:endParaRPr lang="en-US" sz="900" dirty="0"/>
          </a:p>
        </p:txBody>
      </p:sp>
      <p:sp>
        <p:nvSpPr>
          <p:cNvPr id="7" name="Text 5"/>
          <p:cNvSpPr/>
          <p:nvPr/>
        </p:nvSpPr>
        <p:spPr>
          <a:xfrm>
            <a:off x="9628632" y="6446520"/>
            <a:ext cx="1828800" cy="320040"/>
          </a:xfrm>
          <a:prstGeom prst="rect">
            <a:avLst/>
          </a:prstGeom>
          <a:noFill/>
          <a:ln/>
        </p:spPr>
        <p:txBody>
          <a:bodyPr wrap="square" rtlCol="0" anchor="ctr"/>
          <a:lstStyle/>
          <a:p>
            <a:pPr marL="0" indent="0" algn="r">
              <a:buNone/>
            </a:pPr>
            <a:r>
              <a:rPr lang="en-US" sz="900" b="1" dirty="0">
                <a:solidFill>
                  <a:srgbClr val="006747"/>
                </a:solidFill>
              </a:rPr>
              <a:t>Muh Arya Pangestu</a:t>
            </a:r>
            <a:endParaRPr lang="en-US" sz="900" dirty="0"/>
          </a:p>
        </p:txBody>
      </p:sp>
      <p:sp>
        <p:nvSpPr>
          <p:cNvPr id="8" name="Shape 6"/>
          <p:cNvSpPr/>
          <p:nvPr/>
        </p:nvSpPr>
        <p:spPr>
          <a:xfrm>
            <a:off x="731520" y="1371600"/>
            <a:ext cx="5266944" cy="2194560"/>
          </a:xfrm>
          <a:prstGeom prst="roundRect">
            <a:avLst>
              <a:gd name="adj" fmla="val 4167"/>
            </a:avLst>
          </a:prstGeom>
          <a:solidFill>
            <a:srgbClr val="FFFFFF"/>
          </a:solidFill>
          <a:ln w="12700">
            <a:solidFill>
              <a:srgbClr val="E2E8F0"/>
            </a:solidFill>
            <a:prstDash val="solid"/>
          </a:ln>
        </p:spPr>
      </p:sp>
      <p:sp>
        <p:nvSpPr>
          <p:cNvPr id="9" name="Shape 7"/>
          <p:cNvSpPr/>
          <p:nvPr/>
        </p:nvSpPr>
        <p:spPr>
          <a:xfrm>
            <a:off x="731520" y="1371600"/>
            <a:ext cx="137160" cy="2194560"/>
          </a:xfrm>
          <a:prstGeom prst="rect">
            <a:avLst/>
          </a:prstGeom>
          <a:solidFill>
            <a:srgbClr val="006747"/>
          </a:solidFill>
          <a:ln/>
        </p:spPr>
      </p:sp>
      <p:sp>
        <p:nvSpPr>
          <p:cNvPr id="10" name="Text 8"/>
          <p:cNvSpPr/>
          <p:nvPr/>
        </p:nvSpPr>
        <p:spPr>
          <a:xfrm>
            <a:off x="1051560" y="1554480"/>
            <a:ext cx="3657600" cy="320040"/>
          </a:xfrm>
          <a:prstGeom prst="rect">
            <a:avLst/>
          </a:prstGeom>
          <a:noFill/>
          <a:ln/>
        </p:spPr>
        <p:txBody>
          <a:bodyPr wrap="square" rtlCol="0" anchor="ctr"/>
          <a:lstStyle/>
          <a:p>
            <a:pPr marL="0" indent="0">
              <a:buNone/>
            </a:pPr>
            <a:r>
              <a:rPr lang="en-US" sz="1300" b="1" dirty="0">
                <a:solidFill>
                  <a:srgbClr val="062C24"/>
                </a:solidFill>
              </a:rPr>
              <a:t>Layar Desktop (&gt; 1024px)</a:t>
            </a:r>
            <a:endParaRPr lang="en-US" sz="1300" dirty="0"/>
          </a:p>
        </p:txBody>
      </p:sp>
      <p:sp>
        <p:nvSpPr>
          <p:cNvPr id="11" name="Text 9"/>
          <p:cNvSpPr/>
          <p:nvPr/>
        </p:nvSpPr>
        <p:spPr>
          <a:xfrm>
            <a:off x="4663440" y="1554480"/>
            <a:ext cx="1097280" cy="320040"/>
          </a:xfrm>
          <a:prstGeom prst="rect">
            <a:avLst/>
          </a:prstGeom>
          <a:noFill/>
          <a:ln/>
        </p:spPr>
        <p:txBody>
          <a:bodyPr wrap="square" rtlCol="0" anchor="ctr"/>
          <a:lstStyle/>
          <a:p>
            <a:pPr marL="0" indent="0" algn="r">
              <a:buNone/>
            </a:pPr>
            <a:r>
              <a:rPr lang="en-US" sz="950" b="1" dirty="0">
                <a:solidFill>
                  <a:srgbClr val="F59E0B"/>
                </a:solidFill>
              </a:rPr>
              <a:t>Tampilan Luas</a:t>
            </a:r>
            <a:endParaRPr lang="en-US" sz="950" dirty="0"/>
          </a:p>
        </p:txBody>
      </p:sp>
      <p:sp>
        <p:nvSpPr>
          <p:cNvPr id="12" name="Text 10"/>
          <p:cNvSpPr/>
          <p:nvPr/>
        </p:nvSpPr>
        <p:spPr>
          <a:xfrm>
            <a:off x="1051560" y="1965960"/>
            <a:ext cx="4754880" cy="1371600"/>
          </a:xfrm>
          <a:prstGeom prst="rect">
            <a:avLst/>
          </a:prstGeom>
          <a:noFill/>
          <a:ln/>
        </p:spPr>
        <p:txBody>
          <a:bodyPr wrap="square" rtlCol="0" anchor="ctr"/>
          <a:lstStyle/>
          <a:p>
            <a:pPr marL="0" indent="0">
              <a:lnSpc>
                <a:spcPts val="1700"/>
              </a:lnSpc>
              <a:buNone/>
            </a:pPr>
            <a:r>
              <a:rPr lang="en-US" sz="1050" dirty="0">
                <a:solidFill>
                  <a:srgbClr val="1E293B"/>
                </a:solidFill>
              </a:rPr>
              <a:t>Grid 2 kolom seimbang antara Form Sirkulasi dan Modul Media, tabel sirkulasi melebar penuh dengan pembacaan data yang nyaman.</a:t>
            </a:r>
            <a:endParaRPr lang="en-US" sz="1050" dirty="0"/>
          </a:p>
        </p:txBody>
      </p:sp>
      <p:sp>
        <p:nvSpPr>
          <p:cNvPr id="13" name="Shape 11"/>
          <p:cNvSpPr/>
          <p:nvPr/>
        </p:nvSpPr>
        <p:spPr>
          <a:xfrm>
            <a:off x="6181344" y="1371600"/>
            <a:ext cx="5266944" cy="2194560"/>
          </a:xfrm>
          <a:prstGeom prst="roundRect">
            <a:avLst>
              <a:gd name="adj" fmla="val 4167"/>
            </a:avLst>
          </a:prstGeom>
          <a:solidFill>
            <a:srgbClr val="FFFFFF"/>
          </a:solidFill>
          <a:ln w="12700">
            <a:solidFill>
              <a:srgbClr val="E2E8F0"/>
            </a:solidFill>
            <a:prstDash val="solid"/>
          </a:ln>
        </p:spPr>
      </p:sp>
      <p:sp>
        <p:nvSpPr>
          <p:cNvPr id="14" name="Shape 12"/>
          <p:cNvSpPr/>
          <p:nvPr/>
        </p:nvSpPr>
        <p:spPr>
          <a:xfrm>
            <a:off x="6181344" y="1371600"/>
            <a:ext cx="137160" cy="2194560"/>
          </a:xfrm>
          <a:prstGeom prst="rect">
            <a:avLst/>
          </a:prstGeom>
          <a:solidFill>
            <a:srgbClr val="006747"/>
          </a:solidFill>
          <a:ln/>
        </p:spPr>
      </p:sp>
      <p:sp>
        <p:nvSpPr>
          <p:cNvPr id="15" name="Text 13"/>
          <p:cNvSpPr/>
          <p:nvPr/>
        </p:nvSpPr>
        <p:spPr>
          <a:xfrm>
            <a:off x="6501384" y="1554480"/>
            <a:ext cx="3657600" cy="320040"/>
          </a:xfrm>
          <a:prstGeom prst="rect">
            <a:avLst/>
          </a:prstGeom>
          <a:noFill/>
          <a:ln/>
        </p:spPr>
        <p:txBody>
          <a:bodyPr wrap="square" rtlCol="0" anchor="ctr"/>
          <a:lstStyle/>
          <a:p>
            <a:pPr marL="0" indent="0">
              <a:buNone/>
            </a:pPr>
            <a:r>
              <a:rPr lang="en-US" sz="1300" b="1" dirty="0">
                <a:solidFill>
                  <a:srgbClr val="062C24"/>
                </a:solidFill>
              </a:rPr>
              <a:t>Layar Tablet (768px - 1024px)</a:t>
            </a:r>
            <a:endParaRPr lang="en-US" sz="1300" dirty="0"/>
          </a:p>
        </p:txBody>
      </p:sp>
      <p:sp>
        <p:nvSpPr>
          <p:cNvPr id="16" name="Text 14"/>
          <p:cNvSpPr/>
          <p:nvPr/>
        </p:nvSpPr>
        <p:spPr>
          <a:xfrm>
            <a:off x="10113264" y="1554480"/>
            <a:ext cx="1097280" cy="320040"/>
          </a:xfrm>
          <a:prstGeom prst="rect">
            <a:avLst/>
          </a:prstGeom>
          <a:noFill/>
          <a:ln/>
        </p:spPr>
        <p:txBody>
          <a:bodyPr wrap="square" rtlCol="0" anchor="ctr"/>
          <a:lstStyle/>
          <a:p>
            <a:pPr marL="0" indent="0" algn="r">
              <a:buNone/>
            </a:pPr>
            <a:r>
              <a:rPr lang="en-US" sz="950" b="1" dirty="0">
                <a:solidFill>
                  <a:srgbClr val="F59E0B"/>
                </a:solidFill>
              </a:rPr>
              <a:t>Tampilan Adaptif</a:t>
            </a:r>
            <a:endParaRPr lang="en-US" sz="950" dirty="0"/>
          </a:p>
        </p:txBody>
      </p:sp>
      <p:sp>
        <p:nvSpPr>
          <p:cNvPr id="17" name="Text 15"/>
          <p:cNvSpPr/>
          <p:nvPr/>
        </p:nvSpPr>
        <p:spPr>
          <a:xfrm>
            <a:off x="6501384" y="1965960"/>
            <a:ext cx="4754880" cy="1371600"/>
          </a:xfrm>
          <a:prstGeom prst="rect">
            <a:avLst/>
          </a:prstGeom>
          <a:noFill/>
          <a:ln/>
        </p:spPr>
        <p:txBody>
          <a:bodyPr wrap="square" rtlCol="0" anchor="ctr"/>
          <a:lstStyle/>
          <a:p>
            <a:pPr marL="0" indent="0">
              <a:lnSpc>
                <a:spcPts val="1700"/>
              </a:lnSpc>
              <a:buNone/>
            </a:pPr>
            <a:r>
              <a:rPr lang="en-US" sz="1050" dirty="0">
                <a:solidFill>
                  <a:srgbClr val="1E293B"/>
                </a:solidFill>
              </a:rPr>
              <a:t>Penyesuaian tata letak kartu KPI menjadi 2 kolom, form input tetap proporsional, dan canvas tanda tangan menyesuaikan lebar layar.</a:t>
            </a:r>
            <a:endParaRPr lang="en-US" sz="1050" dirty="0"/>
          </a:p>
        </p:txBody>
      </p:sp>
      <p:sp>
        <p:nvSpPr>
          <p:cNvPr id="18" name="Shape 16"/>
          <p:cNvSpPr/>
          <p:nvPr/>
        </p:nvSpPr>
        <p:spPr>
          <a:xfrm>
            <a:off x="731520" y="3749040"/>
            <a:ext cx="5266944" cy="2194560"/>
          </a:xfrm>
          <a:prstGeom prst="roundRect">
            <a:avLst>
              <a:gd name="adj" fmla="val 4167"/>
            </a:avLst>
          </a:prstGeom>
          <a:solidFill>
            <a:srgbClr val="FFFFFF"/>
          </a:solidFill>
          <a:ln w="12700">
            <a:solidFill>
              <a:srgbClr val="E2E8F0"/>
            </a:solidFill>
            <a:prstDash val="solid"/>
          </a:ln>
        </p:spPr>
      </p:sp>
      <p:sp>
        <p:nvSpPr>
          <p:cNvPr id="19" name="Shape 17"/>
          <p:cNvSpPr/>
          <p:nvPr/>
        </p:nvSpPr>
        <p:spPr>
          <a:xfrm>
            <a:off x="731520" y="3749040"/>
            <a:ext cx="137160" cy="2194560"/>
          </a:xfrm>
          <a:prstGeom prst="rect">
            <a:avLst/>
          </a:prstGeom>
          <a:solidFill>
            <a:srgbClr val="006747"/>
          </a:solidFill>
          <a:ln/>
        </p:spPr>
      </p:sp>
      <p:sp>
        <p:nvSpPr>
          <p:cNvPr id="20" name="Text 18"/>
          <p:cNvSpPr/>
          <p:nvPr/>
        </p:nvSpPr>
        <p:spPr>
          <a:xfrm>
            <a:off x="1051560" y="3931920"/>
            <a:ext cx="3657600" cy="320040"/>
          </a:xfrm>
          <a:prstGeom prst="rect">
            <a:avLst/>
          </a:prstGeom>
          <a:noFill/>
          <a:ln/>
        </p:spPr>
        <p:txBody>
          <a:bodyPr wrap="square" rtlCol="0" anchor="ctr"/>
          <a:lstStyle/>
          <a:p>
            <a:pPr marL="0" indent="0">
              <a:buNone/>
            </a:pPr>
            <a:r>
              <a:rPr lang="en-US" sz="1300" b="1" dirty="0">
                <a:solidFill>
                  <a:srgbClr val="062C24"/>
                </a:solidFill>
              </a:rPr>
              <a:t>Layar Smartphone (&lt; 768px)</a:t>
            </a:r>
            <a:endParaRPr lang="en-US" sz="1300" dirty="0"/>
          </a:p>
        </p:txBody>
      </p:sp>
      <p:sp>
        <p:nvSpPr>
          <p:cNvPr id="21" name="Text 19"/>
          <p:cNvSpPr/>
          <p:nvPr/>
        </p:nvSpPr>
        <p:spPr>
          <a:xfrm>
            <a:off x="4663440" y="3931920"/>
            <a:ext cx="1097280" cy="320040"/>
          </a:xfrm>
          <a:prstGeom prst="rect">
            <a:avLst/>
          </a:prstGeom>
          <a:noFill/>
          <a:ln/>
        </p:spPr>
        <p:txBody>
          <a:bodyPr wrap="square" rtlCol="0" anchor="ctr"/>
          <a:lstStyle/>
          <a:p>
            <a:pPr marL="0" indent="0" algn="r">
              <a:buNone/>
            </a:pPr>
            <a:r>
              <a:rPr lang="en-US" sz="950" b="1" dirty="0">
                <a:solidFill>
                  <a:srgbClr val="F59E0B"/>
                </a:solidFill>
              </a:rPr>
              <a:t>Tampilan Mobile</a:t>
            </a:r>
            <a:endParaRPr lang="en-US" sz="950" dirty="0"/>
          </a:p>
        </p:txBody>
      </p:sp>
      <p:sp>
        <p:nvSpPr>
          <p:cNvPr id="22" name="Text 20"/>
          <p:cNvSpPr/>
          <p:nvPr/>
        </p:nvSpPr>
        <p:spPr>
          <a:xfrm>
            <a:off x="1051560" y="4343400"/>
            <a:ext cx="4754880" cy="1371600"/>
          </a:xfrm>
          <a:prstGeom prst="rect">
            <a:avLst/>
          </a:prstGeom>
          <a:noFill/>
          <a:ln/>
        </p:spPr>
        <p:txBody>
          <a:bodyPr wrap="square" rtlCol="0" anchor="ctr"/>
          <a:lstStyle/>
          <a:p>
            <a:pPr marL="0" indent="0">
              <a:lnSpc>
                <a:spcPts val="1700"/>
              </a:lnSpc>
              <a:buNone/>
            </a:pPr>
            <a:r>
              <a:rPr lang="en-US" sz="1050" dirty="0">
                <a:solidFill>
                  <a:srgbClr val="1E293B"/>
                </a:solidFill>
              </a:rPr>
              <a:t>Sistem tata letak berubah otomatis menjadi 1 kolom vertikal (mobile-friendly), menu navigasi responsif, dan touch-event canvas mulus.</a:t>
            </a:r>
            <a:endParaRPr lang="en-US" sz="1050" dirty="0"/>
          </a:p>
        </p:txBody>
      </p:sp>
      <p:sp>
        <p:nvSpPr>
          <p:cNvPr id="23" name="Shape 21"/>
          <p:cNvSpPr/>
          <p:nvPr/>
        </p:nvSpPr>
        <p:spPr>
          <a:xfrm>
            <a:off x="6181344" y="3749040"/>
            <a:ext cx="5266944" cy="2194560"/>
          </a:xfrm>
          <a:prstGeom prst="roundRect">
            <a:avLst>
              <a:gd name="adj" fmla="val 4167"/>
            </a:avLst>
          </a:prstGeom>
          <a:solidFill>
            <a:srgbClr val="FFFFFF"/>
          </a:solidFill>
          <a:ln w="12700">
            <a:solidFill>
              <a:srgbClr val="E2E8F0"/>
            </a:solidFill>
            <a:prstDash val="solid"/>
          </a:ln>
        </p:spPr>
      </p:sp>
      <p:sp>
        <p:nvSpPr>
          <p:cNvPr id="24" name="Shape 22"/>
          <p:cNvSpPr/>
          <p:nvPr/>
        </p:nvSpPr>
        <p:spPr>
          <a:xfrm>
            <a:off x="6181344" y="3749040"/>
            <a:ext cx="137160" cy="2194560"/>
          </a:xfrm>
          <a:prstGeom prst="rect">
            <a:avLst/>
          </a:prstGeom>
          <a:solidFill>
            <a:srgbClr val="006747"/>
          </a:solidFill>
          <a:ln/>
        </p:spPr>
      </p:sp>
      <p:sp>
        <p:nvSpPr>
          <p:cNvPr id="25" name="Text 23"/>
          <p:cNvSpPr/>
          <p:nvPr/>
        </p:nvSpPr>
        <p:spPr>
          <a:xfrm>
            <a:off x="6501384" y="3931920"/>
            <a:ext cx="3657600" cy="320040"/>
          </a:xfrm>
          <a:prstGeom prst="rect">
            <a:avLst/>
          </a:prstGeom>
          <a:noFill/>
          <a:ln/>
        </p:spPr>
        <p:txBody>
          <a:bodyPr wrap="square" rtlCol="0" anchor="ctr"/>
          <a:lstStyle/>
          <a:p>
            <a:pPr marL="0" indent="0">
              <a:buNone/>
            </a:pPr>
            <a:r>
              <a:rPr lang="en-US" sz="1300" b="1" dirty="0">
                <a:solidFill>
                  <a:srgbClr val="062C24"/>
                </a:solidFill>
              </a:rPr>
              <a:t>Standar Kualitas Kode</a:t>
            </a:r>
            <a:endParaRPr lang="en-US" sz="1300" dirty="0"/>
          </a:p>
        </p:txBody>
      </p:sp>
      <p:sp>
        <p:nvSpPr>
          <p:cNvPr id="26" name="Text 24"/>
          <p:cNvSpPr/>
          <p:nvPr/>
        </p:nvSpPr>
        <p:spPr>
          <a:xfrm>
            <a:off x="10113264" y="3931920"/>
            <a:ext cx="1097280" cy="320040"/>
          </a:xfrm>
          <a:prstGeom prst="rect">
            <a:avLst/>
          </a:prstGeom>
          <a:noFill/>
          <a:ln/>
        </p:spPr>
        <p:txBody>
          <a:bodyPr wrap="square" rtlCol="0" anchor="ctr"/>
          <a:lstStyle/>
          <a:p>
            <a:pPr marL="0" indent="0" algn="r">
              <a:buNone/>
            </a:pPr>
            <a:r>
              <a:rPr lang="en-US" sz="950" b="1" dirty="0">
                <a:solidFill>
                  <a:srgbClr val="F59E0B"/>
                </a:solidFill>
              </a:rPr>
              <a:t>Clean Code</a:t>
            </a:r>
            <a:endParaRPr lang="en-US" sz="950" dirty="0"/>
          </a:p>
        </p:txBody>
      </p:sp>
      <p:sp>
        <p:nvSpPr>
          <p:cNvPr id="27" name="Text 25"/>
          <p:cNvSpPr/>
          <p:nvPr/>
        </p:nvSpPr>
        <p:spPr>
          <a:xfrm>
            <a:off x="6501384" y="4343400"/>
            <a:ext cx="4754880" cy="1371600"/>
          </a:xfrm>
          <a:prstGeom prst="rect">
            <a:avLst/>
          </a:prstGeom>
          <a:noFill/>
          <a:ln/>
        </p:spPr>
        <p:txBody>
          <a:bodyPr wrap="square" rtlCol="0" anchor="ctr"/>
          <a:lstStyle/>
          <a:p>
            <a:pPr marL="0" indent="0">
              <a:lnSpc>
                <a:spcPts val="1700"/>
              </a:lnSpc>
              <a:buNone/>
            </a:pPr>
            <a:r>
              <a:rPr lang="en-US" sz="1050" dirty="0">
                <a:solidFill>
                  <a:srgbClr val="1E293B"/>
                </a:solidFill>
              </a:rPr>
              <a:t>Tidak ada error console JavaScript, semantic tags lengkap, pemisahan CSS dan JS eksternal, dan lolos uji W3C Markup Validation.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97280" y="2468880"/>
            <a:ext cx="2560320" cy="1920240"/>
          </a:xfrm>
          <a:prstGeom prst="roundRect">
            <a:avLst>
              <a:gd name="adj" fmla="val 23810"/>
            </a:avLst>
          </a:prstGeom>
          <a:solidFill>
            <a:srgbClr val="006747"/>
          </a:solidFill>
          <a:ln/>
        </p:spPr>
        <p:txBody>
          <a:bodyPr/>
          <a:lstStyle/>
          <a:p>
            <a:endParaRPr lang="id-ID" dirty="0"/>
          </a:p>
        </p:txBody>
      </p:sp>
      <p:sp>
        <p:nvSpPr>
          <p:cNvPr id="3" name="Shape 1"/>
          <p:cNvSpPr/>
          <p:nvPr/>
        </p:nvSpPr>
        <p:spPr>
          <a:xfrm>
            <a:off x="10725912" y="2468880"/>
            <a:ext cx="2560320" cy="1920240"/>
          </a:xfrm>
          <a:prstGeom prst="roundRect">
            <a:avLst>
              <a:gd name="adj" fmla="val 23810"/>
            </a:avLst>
          </a:prstGeom>
          <a:solidFill>
            <a:srgbClr val="006747"/>
          </a:solidFill>
          <a:ln/>
        </p:spPr>
      </p:sp>
      <p:sp>
        <p:nvSpPr>
          <p:cNvPr id="4" name="Shape 2"/>
          <p:cNvSpPr/>
          <p:nvPr/>
        </p:nvSpPr>
        <p:spPr>
          <a:xfrm>
            <a:off x="0" y="0"/>
            <a:ext cx="12188952" cy="137160"/>
          </a:xfrm>
          <a:prstGeom prst="rect">
            <a:avLst/>
          </a:prstGeom>
          <a:solidFill>
            <a:srgbClr val="006747"/>
          </a:solidFill>
          <a:ln/>
        </p:spPr>
      </p:sp>
      <p:sp>
        <p:nvSpPr>
          <p:cNvPr id="11" name="Shape 1">
            <a:extLst>
              <a:ext uri="{FF2B5EF4-FFF2-40B4-BE49-F238E27FC236}">
                <a16:creationId xmlns:a16="http://schemas.microsoft.com/office/drawing/2014/main" id="{109D8995-C901-41E0-BA14-0FF21125D6A5}"/>
              </a:ext>
            </a:extLst>
          </p:cNvPr>
          <p:cNvSpPr/>
          <p:nvPr/>
        </p:nvSpPr>
        <p:spPr>
          <a:xfrm>
            <a:off x="1828736" y="1734126"/>
            <a:ext cx="8531352" cy="3389745"/>
          </a:xfrm>
          <a:prstGeom prst="roundRect">
            <a:avLst>
              <a:gd name="adj" fmla="val 6940"/>
            </a:avLst>
          </a:prstGeom>
          <a:solidFill>
            <a:srgbClr val="006747"/>
          </a:solidFill>
          <a:ln w="19050">
            <a:noFill/>
            <a:prstDash val="solid"/>
          </a:ln>
        </p:spPr>
        <p:txBody>
          <a:bodyPr/>
          <a:lstStyle/>
          <a:p>
            <a:endParaRPr lang="id-ID" dirty="0"/>
          </a:p>
        </p:txBody>
      </p:sp>
      <p:sp>
        <p:nvSpPr>
          <p:cNvPr id="12" name="Text 2">
            <a:extLst>
              <a:ext uri="{FF2B5EF4-FFF2-40B4-BE49-F238E27FC236}">
                <a16:creationId xmlns:a16="http://schemas.microsoft.com/office/drawing/2014/main" id="{A6A27ABC-72FA-4A21-BCC0-82D8217006CF}"/>
              </a:ext>
            </a:extLst>
          </p:cNvPr>
          <p:cNvSpPr/>
          <p:nvPr/>
        </p:nvSpPr>
        <p:spPr>
          <a:xfrm>
            <a:off x="2286000" y="1768302"/>
            <a:ext cx="7616952" cy="365760"/>
          </a:xfrm>
          <a:prstGeom prst="rect">
            <a:avLst/>
          </a:prstGeom>
          <a:noFill/>
          <a:ln/>
        </p:spPr>
        <p:txBody>
          <a:bodyPr wrap="square" rtlCol="0" anchor="ctr"/>
          <a:lstStyle/>
          <a:p>
            <a:pPr marL="0" indent="0" algn="ctr">
              <a:buNone/>
            </a:pPr>
            <a:r>
              <a:rPr lang="en-US" sz="1400" b="1" kern="0" spc="200" dirty="0">
                <a:solidFill>
                  <a:srgbClr val="F59E0B"/>
                </a:solidFill>
              </a:rPr>
              <a:t>KESIMPULAN &amp; PENUTUP</a:t>
            </a:r>
            <a:endParaRPr lang="en-US" sz="1400" dirty="0"/>
          </a:p>
        </p:txBody>
      </p:sp>
      <p:sp>
        <p:nvSpPr>
          <p:cNvPr id="13" name="Text 3">
            <a:extLst>
              <a:ext uri="{FF2B5EF4-FFF2-40B4-BE49-F238E27FC236}">
                <a16:creationId xmlns:a16="http://schemas.microsoft.com/office/drawing/2014/main" id="{D3BF388E-DC34-442D-B19A-F3D34EAED7E7}"/>
              </a:ext>
            </a:extLst>
          </p:cNvPr>
          <p:cNvSpPr/>
          <p:nvPr/>
        </p:nvSpPr>
        <p:spPr>
          <a:xfrm>
            <a:off x="2285873" y="2221461"/>
            <a:ext cx="7616952" cy="548640"/>
          </a:xfrm>
          <a:prstGeom prst="rect">
            <a:avLst/>
          </a:prstGeom>
          <a:noFill/>
          <a:ln/>
        </p:spPr>
        <p:txBody>
          <a:bodyPr wrap="square" rtlCol="0" anchor="ctr"/>
          <a:lstStyle/>
          <a:p>
            <a:pPr marL="0" indent="0" algn="ctr">
              <a:buNone/>
            </a:pPr>
            <a:r>
              <a:rPr lang="en-US" sz="2800" b="1" dirty="0">
                <a:solidFill>
                  <a:srgbClr val="FFFFFF"/>
                </a:solidFill>
              </a:rPr>
              <a:t>Aplikasi SIPUS DIGITAL Siap Diuji</a:t>
            </a:r>
            <a:endParaRPr lang="en-US" sz="2800" dirty="0"/>
          </a:p>
        </p:txBody>
      </p:sp>
      <p:sp>
        <p:nvSpPr>
          <p:cNvPr id="14" name="Text 4">
            <a:extLst>
              <a:ext uri="{FF2B5EF4-FFF2-40B4-BE49-F238E27FC236}">
                <a16:creationId xmlns:a16="http://schemas.microsoft.com/office/drawing/2014/main" id="{62C6FE95-52CE-4D62-9704-702D1F5472B5}"/>
              </a:ext>
            </a:extLst>
          </p:cNvPr>
          <p:cNvSpPr/>
          <p:nvPr/>
        </p:nvSpPr>
        <p:spPr>
          <a:xfrm>
            <a:off x="2286000" y="2872047"/>
            <a:ext cx="7616952" cy="1375295"/>
          </a:xfrm>
          <a:prstGeom prst="rect">
            <a:avLst/>
          </a:prstGeom>
          <a:noFill/>
          <a:ln/>
        </p:spPr>
        <p:txBody>
          <a:bodyPr wrap="square" rtlCol="0" anchor="ctr"/>
          <a:lstStyle/>
          <a:p>
            <a:pPr marL="0" indent="0" algn="ctr">
              <a:lnSpc>
                <a:spcPts val="1800"/>
              </a:lnSpc>
              <a:buNone/>
            </a:pPr>
            <a:r>
              <a:rPr lang="en-US" sz="1250" b="1" dirty="0" err="1">
                <a:solidFill>
                  <a:schemeClr val="bg1"/>
                </a:solidFill>
              </a:rPr>
              <a:t>Antarmuka</a:t>
            </a:r>
            <a:r>
              <a:rPr lang="en-US" sz="1250" b="1" dirty="0">
                <a:solidFill>
                  <a:schemeClr val="bg1"/>
                </a:solidFill>
              </a:rPr>
              <a:t> Pengguna Teruji : </a:t>
            </a:r>
            <a:r>
              <a:rPr lang="en-US" sz="1200" dirty="0">
                <a:solidFill>
                  <a:srgbClr val="FFFFFF"/>
                </a:solidFill>
              </a:rPr>
              <a:t>Desain profesional, konsisten, dan responsif di berbagai </a:t>
            </a:r>
            <a:r>
              <a:rPr lang="en-US" sz="1200" dirty="0" err="1">
                <a:solidFill>
                  <a:srgbClr val="FFFFFF"/>
                </a:solidFill>
              </a:rPr>
              <a:t>perangkat</a:t>
            </a:r>
            <a:r>
              <a:rPr lang="en-US" sz="1200" dirty="0">
                <a:solidFill>
                  <a:srgbClr val="FFFFFF"/>
                </a:solidFill>
              </a:rPr>
              <a:t>.
</a:t>
            </a:r>
            <a:r>
              <a:rPr lang="en-US" sz="1250" b="1" dirty="0">
                <a:solidFill>
                  <a:srgbClr val="10B981"/>
                </a:solidFill>
              </a:rPr>
              <a:t> </a:t>
            </a:r>
            <a:r>
              <a:rPr lang="en-US" sz="1250" b="1" dirty="0">
                <a:solidFill>
                  <a:schemeClr val="bg1"/>
                </a:solidFill>
              </a:rPr>
              <a:t>Logika Terstruktur &amp; Akurat : </a:t>
            </a:r>
            <a:r>
              <a:rPr lang="en-US" sz="1200" dirty="0">
                <a:solidFill>
                  <a:srgbClr val="FFFFFF"/>
                </a:solidFill>
              </a:rPr>
              <a:t>Algoritma denda otomatis, iterasi data dinamis, dan manipulasi teks </a:t>
            </a:r>
            <a:r>
              <a:rPr lang="en-US" sz="1200" dirty="0" err="1">
                <a:solidFill>
                  <a:srgbClr val="FFFFFF"/>
                </a:solidFill>
              </a:rPr>
              <a:t>presisi</a:t>
            </a:r>
            <a:r>
              <a:rPr lang="en-US" sz="1200" dirty="0">
                <a:solidFill>
                  <a:srgbClr val="FFFFFF"/>
                </a:solidFill>
              </a:rPr>
              <a:t>.
</a:t>
            </a:r>
            <a:r>
              <a:rPr lang="en-US" sz="1250" b="1" dirty="0">
                <a:solidFill>
                  <a:schemeClr val="bg1"/>
                </a:solidFill>
              </a:rPr>
              <a:t>Fitur Multimedia Mandiri : </a:t>
            </a:r>
            <a:r>
              <a:rPr lang="en-US" sz="1200" dirty="0">
                <a:solidFill>
                  <a:srgbClr val="FFFFFF"/>
                </a:solidFill>
              </a:rPr>
              <a:t>Canvas tanda tangan 2D, video profil lokal, dan audio bel tanpa ketergantungan luar.
</a:t>
            </a:r>
            <a:r>
              <a:rPr lang="en-US" sz="1200" i="1" dirty="0">
                <a:solidFill>
                  <a:srgbClr val="CBD5E1"/>
                </a:solidFill>
              </a:rPr>
              <a:t>Terima kasih kepada Dewan Asesor Penguji LSP / BNSP.</a:t>
            </a:r>
            <a:endParaRPr lang="en-US" sz="1250" dirty="0"/>
          </a:p>
          <a:p>
            <a:pPr marL="0" indent="0" algn="ctr">
              <a:lnSpc>
                <a:spcPts val="1800"/>
              </a:lnSpc>
              <a:buNone/>
            </a:pPr>
            <a:r>
              <a:rPr lang="en-US" sz="1200" i="1" dirty="0">
                <a:solidFill>
                  <a:srgbClr val="CBD5E1"/>
                </a:solidFill>
              </a:rPr>
              <a:t>Sesi Demonstrasi Langsung &amp; Wawancara Siap Dilaksanakan.</a:t>
            </a:r>
            <a:endParaRPr lang="en-US" sz="1250" dirty="0"/>
          </a:p>
        </p:txBody>
      </p:sp>
      <p:sp>
        <p:nvSpPr>
          <p:cNvPr id="15" name="Text 5">
            <a:extLst>
              <a:ext uri="{FF2B5EF4-FFF2-40B4-BE49-F238E27FC236}">
                <a16:creationId xmlns:a16="http://schemas.microsoft.com/office/drawing/2014/main" id="{6418AF73-82DD-4437-A3A9-30DAE760995C}"/>
              </a:ext>
            </a:extLst>
          </p:cNvPr>
          <p:cNvSpPr/>
          <p:nvPr/>
        </p:nvSpPr>
        <p:spPr>
          <a:xfrm>
            <a:off x="2285936" y="4754648"/>
            <a:ext cx="7616952" cy="320040"/>
          </a:xfrm>
          <a:prstGeom prst="rect">
            <a:avLst/>
          </a:prstGeom>
          <a:noFill/>
          <a:ln/>
        </p:spPr>
        <p:txBody>
          <a:bodyPr wrap="square" rtlCol="0" anchor="ctr"/>
          <a:lstStyle/>
          <a:p>
            <a:pPr marL="0" indent="0" algn="ctr">
              <a:buNone/>
            </a:pPr>
            <a:r>
              <a:rPr lang="en-US" sz="1100" b="1" dirty="0">
                <a:solidFill>
                  <a:srgbClr val="F59E0B"/>
                </a:solidFill>
              </a:rPr>
              <a:t>Presenter: Muh Arya Pangestu — Skema Asisten Pengembang Web</a:t>
            </a:r>
            <a:endParaRPr lang="en-US" sz="1100" dirty="0"/>
          </a:p>
        </p:txBody>
      </p:sp>
    </p:spTree>
    <p:extLst>
      <p:ext uri="{BB962C8B-B14F-4D97-AF65-F5344CB8AC3E}">
        <p14:creationId xmlns:p14="http://schemas.microsoft.com/office/powerpoint/2010/main" val="3117530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1665</Words>
  <Application>Microsoft Office PowerPoint</Application>
  <PresentationFormat>Custom</PresentationFormat>
  <Paragraphs>215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aryapangestu2017@gmail.com</cp:lastModifiedBy>
  <cp:revision>2</cp:revision>
  <dcterms:created xsi:type="dcterms:W3CDTF">2026-10-16T22:49:32Z</dcterms:created>
  <dcterms:modified xsi:type="dcterms:W3CDTF">2026-10-16T23:08:35Z</dcterms:modified>
</cp:coreProperties>
</file>